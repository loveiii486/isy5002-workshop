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9"/>
  </p:notesMasterIdLst>
  <p:sldIdLst>
    <p:sldId id="256" r:id="rId5"/>
    <p:sldId id="257" r:id="rId6"/>
    <p:sldId id="258" r:id="rId7"/>
    <p:sldId id="262" r:id="rId8"/>
    <p:sldId id="263" r:id="rId9"/>
    <p:sldId id="264" r:id="rId10"/>
    <p:sldId id="265" r:id="rId11"/>
    <p:sldId id="266" r:id="rId12"/>
    <p:sldId id="298" r:id="rId13"/>
    <p:sldId id="267" r:id="rId14"/>
    <p:sldId id="268" r:id="rId15"/>
    <p:sldId id="269" r:id="rId16"/>
    <p:sldId id="299" r:id="rId17"/>
    <p:sldId id="270" r:id="rId18"/>
    <p:sldId id="271" r:id="rId19"/>
    <p:sldId id="272" r:id="rId20"/>
    <p:sldId id="273" r:id="rId21"/>
    <p:sldId id="300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301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5" r:id="rId44"/>
    <p:sldId id="297" r:id="rId45"/>
    <p:sldId id="296" r:id="rId46"/>
    <p:sldId id="302" r:id="rId47"/>
    <p:sldId id="294" r:id="rId4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EB60A-8A8E-4763-91DA-3E309958E63B}" v="18" dt="2026-09-12T04:06:52.63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1545" autoAdjust="0"/>
  </p:normalViewPr>
  <p:slideViewPr>
    <p:cSldViewPr snapToGrid="0">
      <p:cViewPr>
        <p:scale>
          <a:sx n="53" d="100"/>
          <a:sy n="53" d="100"/>
        </p:scale>
        <p:origin x="3368" y="224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5" d="100"/>
        <a:sy n="75" d="100"/>
      </p:scale>
      <p:origin x="0" y="-29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Zhengqing" userId="d44ce008-d238-4a06-a0e9-019b96f24b1f" providerId="ADAL" clId="{D76419E2-DABB-4987-983B-39AE41BEFF0E}"/>
    <pc:docChg chg="undo custSel modSld">
      <pc:chgData name="Hu Zhengqing" userId="d44ce008-d238-4a06-a0e9-019b96f24b1f" providerId="ADAL" clId="{D76419E2-DABB-4987-983B-39AE41BEFF0E}" dt="2026-09-12T04:07:19.035" v="85" actId="20577"/>
      <pc:docMkLst>
        <pc:docMk/>
      </pc:docMkLst>
      <pc:sldChg chg="modSp mod">
        <pc:chgData name="Hu Zhengqing" userId="d44ce008-d238-4a06-a0e9-019b96f24b1f" providerId="ADAL" clId="{D76419E2-DABB-4987-983B-39AE41BEFF0E}" dt="2026-09-12T04:07:19.035" v="85" actId="20577"/>
        <pc:sldMkLst>
          <pc:docMk/>
          <pc:sldMk cId="0" sldId="256"/>
        </pc:sldMkLst>
        <pc:spChg chg="mod">
          <ac:chgData name="Hu Zhengqing" userId="d44ce008-d238-4a06-a0e9-019b96f24b1f" providerId="ADAL" clId="{D76419E2-DABB-4987-983B-39AE41BEFF0E}" dt="2026-09-12T04:07:19.035" v="85" actId="20577"/>
          <ac:spMkLst>
            <pc:docMk/>
            <pc:sldMk cId="0" sldId="256"/>
            <ac:spMk id="130" creationId="{00000000-0000-0000-0000-000000000000}"/>
          </ac:spMkLst>
        </pc:spChg>
      </pc:sldChg>
      <pc:sldChg chg="modSp">
        <pc:chgData name="Hu Zhengqing" userId="d44ce008-d238-4a06-a0e9-019b96f24b1f" providerId="ADAL" clId="{D76419E2-DABB-4987-983B-39AE41BEFF0E}" dt="2026-09-12T04:06:52.635" v="38" actId="20577"/>
        <pc:sldMkLst>
          <pc:docMk/>
          <pc:sldMk cId="0" sldId="274"/>
        </pc:sldMkLst>
        <pc:spChg chg="mod">
          <ac:chgData name="Hu Zhengqing" userId="d44ce008-d238-4a06-a0e9-019b96f24b1f" providerId="ADAL" clId="{D76419E2-DABB-4987-983B-39AE41BEFF0E}" dt="2026-09-12T04:06:52.635" v="38" actId="20577"/>
          <ac:spMkLst>
            <pc:docMk/>
            <pc:sldMk cId="0" sldId="27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4" name="Shape 12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Can estimate from naked eye but</a:t>
            </a:r>
            <a:r>
              <a:rPr lang="en-US" b="1" baseline="0" dirty="0">
                <a:solidFill>
                  <a:schemeClr val="tx1"/>
                </a:solidFill>
              </a:rPr>
              <a:t> can quantify it?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164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Ok for</a:t>
            </a:r>
            <a:r>
              <a:rPr lang="en-US" b="1" baseline="0" dirty="0">
                <a:solidFill>
                  <a:schemeClr val="tx1"/>
                </a:solidFill>
              </a:rPr>
              <a:t> shapes with same phase. But what if both shapes are out of phase like here……</a:t>
            </a:r>
            <a:endParaRPr lang="en-US" b="1" dirty="0">
              <a:solidFill>
                <a:schemeClr val="tx1"/>
              </a:solidFill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We can do adjustment to calculate similarity</a:t>
            </a:r>
            <a:r>
              <a:rPr lang="en-US" b="1" baseline="0" dirty="0">
                <a:solidFill>
                  <a:schemeClr val="tx1"/>
                </a:solidFill>
              </a:rPr>
              <a:t> between two shapes that are out of phase</a:t>
            </a:r>
            <a:endParaRPr lang="en-US" b="1" dirty="0">
              <a:solidFill>
                <a:schemeClr val="tx1"/>
              </a:solidFill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7039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dirty="0"/>
              <a:t>shape, morphology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Major concern for this method: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What if m not equal to n?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unable to use </a:t>
            </a:r>
            <a:r>
              <a:rPr lang="en-SG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Euclidean distance method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401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</a:t>
            </a:r>
            <a:r>
              <a:rPr lang="en-US" b="1" baseline="0" dirty="0">
                <a:solidFill>
                  <a:schemeClr val="tx1"/>
                </a:solidFill>
              </a:rPr>
              <a:t> this </a:t>
            </a:r>
            <a:r>
              <a:rPr lang="en-US" b="1" dirty="0">
                <a:solidFill>
                  <a:schemeClr val="tx1"/>
                </a:solidFill>
              </a:rPr>
              <a:t>example: many</a:t>
            </a:r>
            <a:r>
              <a:rPr lang="en-US" b="1" baseline="0" dirty="0">
                <a:solidFill>
                  <a:schemeClr val="tx1"/>
                </a:solidFill>
              </a:rPr>
              <a:t> ways to say the word, “timing”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SG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Euclidean distance not possible to account for variations in time as length of signals must be the same!</a:t>
            </a:r>
            <a:endParaRPr lang="en-US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With DTW, it is possible to account for the variations in time</a:t>
            </a:r>
            <a:endParaRPr lang="en-SG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155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Using </a:t>
            </a:r>
            <a:r>
              <a:rPr lang="en-SG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Euclidean distance method will not be an accurate representation (show example)</a:t>
            </a:r>
          </a:p>
        </p:txBody>
      </p:sp>
    </p:spTree>
    <p:extLst>
      <p:ext uri="{BB962C8B-B14F-4D97-AF65-F5344CB8AC3E}">
        <p14:creationId xmlns:p14="http://schemas.microsoft.com/office/powerpoint/2010/main" val="2315115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Another example: Signatures; many</a:t>
            </a:r>
            <a:r>
              <a:rPr lang="en-US" b="1" baseline="0" dirty="0"/>
              <a:t> ways of signing the same signatures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137480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Can even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i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ntegrate DTW method in Deep Learning Model for prediction purposes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248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Using </a:t>
            </a:r>
            <a:r>
              <a:rPr lang="en-SG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Euclidean distance method will not be an accurate representation (show example)</a:t>
            </a:r>
          </a:p>
        </p:txBody>
      </p:sp>
    </p:spTree>
    <p:extLst>
      <p:ext uri="{BB962C8B-B14F-4D97-AF65-F5344CB8AC3E}">
        <p14:creationId xmlns:p14="http://schemas.microsoft.com/office/powerpoint/2010/main" val="821459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n x m matrix covers the window boundaries 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orange curve = correct wrapping path 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example of wrong wrapping path (violate rules)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st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start point from bottom left and end point at top right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nd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Cannot move back in direction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3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rd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cannot have a break in between! Must be continuous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763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n x m matrix covers the window boundaries 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orange curve = correct wrapping path 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example of wrong wrapping path (violate rules)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1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st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start point from bottom left and end point at top right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2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nd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Cannot move back in direction</a:t>
            </a:r>
            <a:endParaRPr lang="en-SG" sz="24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3</a:t>
            </a:r>
            <a:r>
              <a:rPr lang="en-US" sz="2400" b="1" u="sng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rd</a:t>
            </a:r>
            <a:r>
              <a:rPr lang="en-US" sz="2400" b="1" u="sng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Rule</a:t>
            </a:r>
            <a:r>
              <a:rPr lang="en-US" sz="24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: cannot have a break in between! Must be continuous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17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codes to import libraries and to perform some setup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87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x is red line and y is blue line; codes to plot the charts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725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applying 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maths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formula to calculate the distance matrix in DTW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codes that represent this formula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Ask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students to take note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that output from these codes turn out to be inverted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From example, show that the top left cell represented by D[0,0] due to the inversion! Desired position of this cell should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be bottom left instead!</a:t>
            </a:r>
            <a:endParaRPr lang="en-US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While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on its right, the cell is represented by D[0,1] </a:t>
            </a:r>
            <a:endParaRPr lang="en-US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05271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applying 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maths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formula to calculate the distance matrix in DTW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codes that represent this formula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Ask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students to take note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that output from these codes turn out to be inverted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From example, show that the top left cell represented by D[0,0] due to the inversion! Desired position of this cell should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be bottom left instead!</a:t>
            </a:r>
            <a:endParaRPr lang="en-US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While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on its right, the cell is represented by D[0,1] </a:t>
            </a:r>
            <a:endParaRPr lang="en-US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24876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0" name="Shape 2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inverted because </a:t>
            </a:r>
            <a:r>
              <a:rPr lang="en-US" sz="2200" b="1" dirty="0" err="1">
                <a:effectLst/>
                <a:latin typeface="+mn-lt"/>
                <a:ea typeface="+mn-ea"/>
                <a:cs typeface="+mn-cs"/>
                <a:sym typeface="Helvetica Neue"/>
              </a:rPr>
              <a:t>viridis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 starts from top left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We need to invert to allow it to start from bot left, which is the correct configuration!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 err="1"/>
              <a:t>plt.gca</a:t>
            </a:r>
            <a:r>
              <a:rPr b="1" dirty="0"/>
              <a:t>().</a:t>
            </a:r>
            <a:r>
              <a:rPr b="1" dirty="0" err="1"/>
              <a:t>invert_yaxis</a:t>
            </a:r>
            <a:r>
              <a:rPr b="1" dirty="0"/>
              <a:t>() </a:t>
            </a:r>
            <a:r>
              <a:rPr lang="en-US" b="1" dirty="0">
                <a:sym typeface="Wingdings" panose="05000000000000000000" pitchFamily="2" charset="2"/>
              </a:rPr>
              <a:t> #</a:t>
            </a:r>
            <a:r>
              <a:rPr b="1" dirty="0"/>
              <a:t>This is added so that the y axis start from bottom, instead of top</a:t>
            </a:r>
            <a:endParaRPr 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1" name="Shape 28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plt.gca().invert_yaxis() </a:t>
            </a:r>
          </a:p>
          <a:p>
            <a:r>
              <a:t># This is added so that the y axis start from bottom, instead of top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Cost matrix important to determine wrapping path! 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Formulas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to calculate accumulated cost of each cell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Show example of when j=0 (first column) 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A[1,0], A[2,0], </a:t>
            </a:r>
            <a:r>
              <a:rPr lang="en-US" sz="2200" b="1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etc</a:t>
            </a:r>
            <a:endParaRPr lang="en-SG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3230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Some examples of calculating the accumulated costs within the matrix</a:t>
            </a:r>
            <a:endParaRPr lang="en-SG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A[1,0], </a:t>
            </a:r>
            <a:r>
              <a:rPr b="1" dirty="0">
                <a:solidFill>
                  <a:schemeClr val="tx1"/>
                </a:solidFill>
              </a:rPr>
              <a:t>1+0.25 = 1.25</a:t>
            </a:r>
            <a:r>
              <a:rPr lang="en-US" b="1" dirty="0">
                <a:solidFill>
                  <a:schemeClr val="tx1"/>
                </a:solidFill>
              </a:rPr>
              <a:t> (use first column formula)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A[0,1], </a:t>
            </a:r>
            <a:r>
              <a:rPr b="1" dirty="0">
                <a:solidFill>
                  <a:schemeClr val="tx1"/>
                </a:solidFill>
              </a:rPr>
              <a:t>0.25+0.25 = 0.5</a:t>
            </a:r>
            <a:r>
              <a:rPr lang="en-US" b="1" dirty="0">
                <a:solidFill>
                  <a:schemeClr val="tx1"/>
                </a:solidFill>
              </a:rPr>
              <a:t> (use first row formula)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6" name="Shape 35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A[5,0], </a:t>
            </a:r>
            <a:r>
              <a:rPr lang="en-US" b="1" dirty="0">
                <a:solidFill>
                  <a:schemeClr val="tx1"/>
                </a:solidFill>
              </a:rPr>
              <a:t>4+9.5 = 13.5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(use first column formula)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A[0,5], </a:t>
            </a:r>
            <a:r>
              <a:rPr lang="en-US" b="1" dirty="0">
                <a:solidFill>
                  <a:schemeClr val="tx1"/>
                </a:solidFill>
              </a:rPr>
              <a:t>4+13.5 = 17.5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(use first row formula)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A[1,1], </a:t>
            </a:r>
            <a:r>
              <a:rPr lang="en-US" b="1" dirty="0">
                <a:solidFill>
                  <a:schemeClr val="tx1"/>
                </a:solidFill>
              </a:rPr>
              <a:t>1+0.25 = 1.25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(use general formula)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0.25</a:t>
            </a:r>
            <a:r>
              <a:rPr lang="en-US" b="1" baseline="0" dirty="0">
                <a:solidFill>
                  <a:schemeClr val="tx1"/>
                </a:solidFill>
              </a:rPr>
              <a:t> = min of accumulated cost around cell A[1,1]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0" name="Shape 4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solidFill>
                  <a:schemeClr val="tx1"/>
                </a:solidFill>
              </a:rPr>
              <a:t>For</a:t>
            </a:r>
            <a:r>
              <a:rPr lang="en-US" b="1" baseline="0" dirty="0">
                <a:solidFill>
                  <a:schemeClr val="tx1"/>
                </a:solidFill>
              </a:rPr>
              <a:t> A[4,5], </a:t>
            </a:r>
            <a:r>
              <a:rPr lang="en-US" b="1" dirty="0">
                <a:solidFill>
                  <a:schemeClr val="tx1"/>
                </a:solidFill>
              </a:rPr>
              <a:t>9+2.25 = 11.25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(use general formula)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2.25 = min of accumulated cost around cell A[4,5]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4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3" name="Shape 4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Codes to determine</a:t>
            </a:r>
            <a:r>
              <a:rPr lang="en-US" b="1" baseline="0" dirty="0">
                <a:solidFill>
                  <a:schemeClr val="tx1"/>
                </a:solidFill>
              </a:rPr>
              <a:t> the accumulated cost matrix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>
                <a:solidFill>
                  <a:schemeClr val="tx1"/>
                </a:solidFill>
              </a:rPr>
              <a:t>for j in range(1,dists.shape[1])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b="1" dirty="0">
                <a:solidFill>
                  <a:schemeClr val="tx1"/>
                </a:solidFill>
              </a:rPr>
              <a:t># the range starts from one because </a:t>
            </a:r>
            <a:r>
              <a:rPr b="1" dirty="0" err="1">
                <a:solidFill>
                  <a:schemeClr val="tx1"/>
                </a:solidFill>
              </a:rPr>
              <a:t>acuCost</a:t>
            </a:r>
            <a:r>
              <a:rPr b="1" dirty="0">
                <a:solidFill>
                  <a:schemeClr val="tx1"/>
                </a:solidFill>
              </a:rPr>
              <a:t>[0,0] has been filled with </a:t>
            </a:r>
            <a:r>
              <a:rPr b="1" dirty="0" err="1">
                <a:solidFill>
                  <a:schemeClr val="tx1"/>
                </a:solidFill>
              </a:rPr>
              <a:t>dists</a:t>
            </a:r>
            <a:r>
              <a:rPr b="1" dirty="0">
                <a:solidFill>
                  <a:schemeClr val="tx1"/>
                </a:solidFill>
              </a:rPr>
              <a:t>[0,0]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3" name="Shape 42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wrapping path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along the lighted 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colour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within the </a:t>
            </a:r>
            <a:r>
              <a:rPr lang="en-US" sz="2200" b="1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acuCost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Matrix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optimal/wrapping path named as “path” is a list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show example of wrapping process!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compare 3 neighboring squares and find the minimum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cost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square!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Wrapping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process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represented by this set of code,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which starts from top right, and determine all the 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minimum</a:t>
            </a:r>
            <a:r>
              <a:rPr lang="en-US" sz="2200" b="1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cost</a:t>
            </a: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 squares until it reaches D[0,0]</a:t>
            </a:r>
            <a:endParaRPr lang="en-SG" sz="2200" b="1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Helvetica Neue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577371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9" name="Shape 4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>
                <a:solidFill>
                  <a:schemeClr val="tx1"/>
                </a:solidFill>
              </a:rPr>
              <a:t>previously, we have done </a:t>
            </a:r>
            <a:r>
              <a:rPr b="1" dirty="0" err="1">
                <a:solidFill>
                  <a:schemeClr val="tx1"/>
                </a:solidFill>
              </a:rPr>
              <a:t>path.append</a:t>
            </a:r>
            <a:r>
              <a:rPr b="1" dirty="0">
                <a:solidFill>
                  <a:schemeClr val="tx1"/>
                </a:solidFill>
              </a:rPr>
              <a:t>([ j, </a:t>
            </a:r>
            <a:r>
              <a:rPr b="1" dirty="0" err="1">
                <a:solidFill>
                  <a:schemeClr val="tx1"/>
                </a:solidFill>
              </a:rPr>
              <a:t>i</a:t>
            </a:r>
            <a:r>
              <a:rPr b="1" dirty="0">
                <a:solidFill>
                  <a:schemeClr val="tx1"/>
                </a:solidFill>
              </a:rPr>
              <a:t> ])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Now we want to plot the path</a:t>
            </a:r>
            <a:r>
              <a:rPr lang="en-US" b="1" baseline="0" dirty="0">
                <a:solidFill>
                  <a:schemeClr val="tx1"/>
                </a:solidFill>
              </a:rPr>
              <a:t> </a:t>
            </a:r>
            <a:r>
              <a:rPr lang="en-US" b="1" baseline="0" dirty="0">
                <a:solidFill>
                  <a:schemeClr val="tx1"/>
                </a:solidFill>
                <a:sym typeface="Wingdings" panose="05000000000000000000" pitchFamily="2" charset="2"/>
              </a:rPr>
              <a:t> this code function helps us draw the path</a:t>
            </a:r>
            <a:endParaRPr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Path is a list</a:t>
            </a:r>
            <a:r>
              <a:rPr lang="en-US" b="1" baseline="0" dirty="0">
                <a:solidFill>
                  <a:schemeClr val="tx1"/>
                </a:solidFill>
              </a:rPr>
              <a:t> with 2 points: </a:t>
            </a:r>
            <a:r>
              <a:rPr lang="en-US" b="1" baseline="0" dirty="0" err="1">
                <a:solidFill>
                  <a:schemeClr val="tx1"/>
                </a:solidFill>
              </a:rPr>
              <a:t>i</a:t>
            </a:r>
            <a:r>
              <a:rPr lang="en-US" b="1" baseline="0" dirty="0">
                <a:solidFill>
                  <a:schemeClr val="tx1"/>
                </a:solidFill>
              </a:rPr>
              <a:t> and j; </a:t>
            </a:r>
            <a:r>
              <a:rPr b="1" dirty="0">
                <a:solidFill>
                  <a:schemeClr val="tx1"/>
                </a:solidFill>
              </a:rPr>
              <a:t>j stands for x axis,</a:t>
            </a:r>
            <a:r>
              <a:rPr lang="en-US" b="1" dirty="0">
                <a:solidFill>
                  <a:schemeClr val="tx1"/>
                </a:solidFill>
              </a:rPr>
              <a:t> whereas</a:t>
            </a:r>
            <a:r>
              <a:rPr b="1" dirty="0">
                <a:solidFill>
                  <a:schemeClr val="tx1"/>
                </a:solidFill>
              </a:rPr>
              <a:t> </a:t>
            </a:r>
            <a:r>
              <a:rPr b="1" dirty="0" err="1">
                <a:solidFill>
                  <a:schemeClr val="tx1"/>
                </a:solidFill>
              </a:rPr>
              <a:t>i</a:t>
            </a:r>
            <a:r>
              <a:rPr b="1" dirty="0">
                <a:solidFill>
                  <a:schemeClr val="tx1"/>
                </a:solidFill>
              </a:rPr>
              <a:t> stands for y axis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Codes to calculate the costs based on </a:t>
            </a:r>
            <a:r>
              <a:rPr lang="en-US" sz="2200" b="1" dirty="0" err="1">
                <a:effectLst/>
                <a:latin typeface="+mn-lt"/>
                <a:ea typeface="+mn-ea"/>
                <a:cs typeface="+mn-cs"/>
                <a:sym typeface="Helvetica Neue"/>
              </a:rPr>
              <a:t>dists</a:t>
            </a:r>
            <a:endParaRPr lang="en-US" sz="2200" b="1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Remember your accumulated cost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Helvetica Neue"/>
              </a:rPr>
              <a:t> is dependent on the distance 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Refer to previous formula  A[</a:t>
            </a:r>
            <a:r>
              <a:rPr lang="en-US" sz="2200" b="1" baseline="0" dirty="0" err="1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i,j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] = D[</a:t>
            </a:r>
            <a:r>
              <a:rPr lang="en-US" sz="2200" b="1" baseline="0" dirty="0" err="1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i,j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] + ……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263557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7" name="Shape 4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>
                <a:solidFill>
                  <a:schemeClr val="tx1"/>
                </a:solidFill>
              </a:rPr>
              <a:t>How to plot a line that shows the correspondence between point 5 in X and point 6 in 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</a:rPr>
              <a:t>A</a:t>
            </a:r>
            <a:r>
              <a:rPr b="1" dirty="0" err="1">
                <a:solidFill>
                  <a:schemeClr val="tx1"/>
                </a:solidFill>
              </a:rPr>
              <a:t>ns</a:t>
            </a:r>
            <a:r>
              <a:rPr b="1" dirty="0">
                <a:solidFill>
                  <a:schemeClr val="tx1"/>
                </a:solidFill>
              </a:rPr>
              <a:t>:</a:t>
            </a:r>
            <a:r>
              <a:rPr b="1" dirty="0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b="1" dirty="0" err="1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plt.plot</a:t>
            </a:r>
            <a:r>
              <a:rPr b="1" dirty="0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([5, 6], [X[5], Y[6]])</a:t>
            </a:r>
          </a:p>
        </p:txBody>
      </p:sp>
    </p:spTree>
    <p:extLst>
      <p:ext uri="{BB962C8B-B14F-4D97-AF65-F5344CB8AC3E}">
        <p14:creationId xmlns:p14="http://schemas.microsoft.com/office/powerpoint/2010/main" val="1073339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7" name="Shape 4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b="1" dirty="0">
                <a:solidFill>
                  <a:schemeClr val="tx1"/>
                </a:solidFill>
              </a:rPr>
              <a:t>How to plot a line that shows the correspondence between point 5 in X and point 6 in 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</a:rPr>
              <a:t>A</a:t>
            </a:r>
            <a:r>
              <a:rPr b="1" dirty="0" err="1">
                <a:solidFill>
                  <a:schemeClr val="tx1"/>
                </a:solidFill>
              </a:rPr>
              <a:t>ns</a:t>
            </a:r>
            <a:r>
              <a:rPr b="1" dirty="0">
                <a:solidFill>
                  <a:schemeClr val="tx1"/>
                </a:solidFill>
              </a:rPr>
              <a:t>:</a:t>
            </a:r>
            <a:r>
              <a:rPr b="1" dirty="0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b="1" dirty="0" err="1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plt.plot</a:t>
            </a:r>
            <a:r>
              <a:rPr b="1" dirty="0">
                <a:solidFill>
                  <a:schemeClr val="tx1"/>
                </a:solidFill>
                <a:latin typeface="Menlo Regular"/>
                <a:ea typeface="Menlo Regular"/>
                <a:cs typeface="Menlo Regular"/>
                <a:sym typeface="Menlo Regular"/>
              </a:rPr>
              <a:t>([5, 6], [X[5], Y[6]])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function to plot how each point corresponds to one another!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s1 and s2 are the 2 different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Helvetica Neue"/>
              </a:rPr>
              <a:t> signals; idx1 and idx2 are the interested time parameters</a:t>
            </a:r>
            <a:endParaRPr lang="en-US" sz="2200" b="1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show how through examples 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 which point/line matches with which point/line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Illustrates how signals of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Helvetica Neue"/>
              </a:rPr>
              <a:t> different shapes and sizes can be related to each other using DTW method</a:t>
            </a:r>
            <a:endParaRPr lang="en-SG" sz="2200" b="1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4723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Compare original chart</a:t>
            </a:r>
            <a:r>
              <a:rPr lang="en-US" b="1" baseline="0" dirty="0"/>
              <a:t> and chart with DTW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322230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Another example with different signals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1488411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Wrapping results for the new set of signals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matrix here in this example is better if you want to utilize machine learning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599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back to ECG signals problem 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 from peak (use </a:t>
            </a:r>
            <a:r>
              <a:rPr lang="en-US" sz="2200" b="1" dirty="0" err="1">
                <a:effectLst/>
                <a:latin typeface="+mn-lt"/>
                <a:ea typeface="+mn-ea"/>
                <a:cs typeface="+mn-cs"/>
                <a:sym typeface="Helvetica Neue"/>
              </a:rPr>
              <a:t>findpeak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 learnt</a:t>
            </a:r>
            <a:r>
              <a:rPr lang="en-US" sz="2200" b="1" baseline="0" dirty="0">
                <a:effectLst/>
                <a:latin typeface="+mn-lt"/>
                <a:ea typeface="+mn-ea"/>
                <a:cs typeface="+mn-cs"/>
                <a:sym typeface="Helvetica Neue"/>
              </a:rPr>
              <a:t> from Workshop 1)</a:t>
            </a:r>
            <a:r>
              <a:rPr lang="en-US" sz="2200" b="1" dirty="0">
                <a:effectLst/>
                <a:latin typeface="+mn-lt"/>
                <a:ea typeface="+mn-ea"/>
                <a:cs typeface="+mn-cs"/>
                <a:sym typeface="Helvetica Neue"/>
              </a:rPr>
              <a:t>, shift 15 points to left = start of ECG heartbeat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6332406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Helvetica Neue"/>
              </a:rPr>
              <a:t>Code function that you need to complete to help chop (segment) each ECG heartbeat!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Load data, then Perform peak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Then Extract segments based on the detected peaks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15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Go to google documents and </a:t>
            </a:r>
            <a:r>
              <a:rPr lang="en-US" b="1" baseline="0" dirty="0" err="1">
                <a:solidFill>
                  <a:schemeClr val="tx1"/>
                </a:solidFill>
              </a:rPr>
              <a:t>colab</a:t>
            </a:r>
            <a:r>
              <a:rPr lang="en-US" b="1" baseline="0" dirty="0">
                <a:solidFill>
                  <a:schemeClr val="tx1"/>
                </a:solidFill>
              </a:rPr>
              <a:t> to demonstrate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6591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Go to google documents and </a:t>
            </a:r>
            <a:r>
              <a:rPr lang="en-US" b="1" baseline="0" dirty="0" err="1">
                <a:solidFill>
                  <a:schemeClr val="tx1"/>
                </a:solidFill>
              </a:rPr>
              <a:t>colab</a:t>
            </a:r>
            <a:r>
              <a:rPr lang="en-US" b="1" baseline="0" dirty="0">
                <a:solidFill>
                  <a:schemeClr val="tx1"/>
                </a:solidFill>
              </a:rPr>
              <a:t> to demonstrate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9837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Go to google documents and </a:t>
            </a:r>
            <a:r>
              <a:rPr lang="en-US" b="1" baseline="0" dirty="0" err="1">
                <a:solidFill>
                  <a:schemeClr val="tx1"/>
                </a:solidFill>
              </a:rPr>
              <a:t>colab</a:t>
            </a:r>
            <a:r>
              <a:rPr lang="en-US" b="1" baseline="0" dirty="0">
                <a:solidFill>
                  <a:schemeClr val="tx1"/>
                </a:solidFill>
              </a:rPr>
              <a:t> to demonstrate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5528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Go to google documents and </a:t>
            </a:r>
            <a:r>
              <a:rPr lang="en-US" b="1" baseline="0" dirty="0" err="1">
                <a:solidFill>
                  <a:schemeClr val="tx1"/>
                </a:solidFill>
              </a:rPr>
              <a:t>colab</a:t>
            </a:r>
            <a:r>
              <a:rPr lang="en-US" b="1" baseline="0" dirty="0">
                <a:solidFill>
                  <a:schemeClr val="tx1"/>
                </a:solidFill>
              </a:rPr>
              <a:t> to demonstrate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6306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>
                <a:solidFill>
                  <a:schemeClr val="tx1"/>
                </a:solidFill>
              </a:rPr>
              <a:t>Go to google documents and </a:t>
            </a:r>
            <a:r>
              <a:rPr lang="en-US" b="1" baseline="0" dirty="0" err="1">
                <a:solidFill>
                  <a:schemeClr val="tx1"/>
                </a:solidFill>
              </a:rPr>
              <a:t>colab</a:t>
            </a:r>
            <a:r>
              <a:rPr lang="en-US" b="1" baseline="0" dirty="0">
                <a:solidFill>
                  <a:schemeClr val="tx1"/>
                </a:solidFill>
              </a:rPr>
              <a:t> to demonstrate</a:t>
            </a:r>
            <a:endParaRPr lang="en-SG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304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949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21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21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0" algn="ctr">
              <a:spcBef>
                <a:spcPts val="0"/>
              </a:spcBef>
              <a:buSzTx/>
              <a:buNone/>
              <a:defRPr sz="3200"/>
            </a:lvl2pPr>
            <a:lvl3pPr marL="0" indent="0" algn="ctr">
              <a:spcBef>
                <a:spcPts val="0"/>
              </a:spcBef>
              <a:buSzTx/>
              <a:buNone/>
              <a:defRPr sz="3200"/>
            </a:lvl3pPr>
            <a:lvl4pPr marL="0" indent="0" algn="ctr">
              <a:spcBef>
                <a:spcPts val="0"/>
              </a:spcBef>
              <a:buSzTx/>
              <a:buNone/>
              <a:defRPr sz="3200"/>
            </a:lvl4pPr>
            <a:lvl5pPr marL="0" indent="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21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21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22"/>
          </p:nvPr>
        </p:nvSpPr>
        <p:spPr>
          <a:xfrm>
            <a:off x="6724518" y="889000"/>
            <a:ext cx="5334002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sz="half" idx="23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  <a:lvl2pPr marL="740833" indent="-296333" algn="ctr">
              <a:spcBef>
                <a:spcPts val="0"/>
              </a:spcBef>
              <a:defRPr sz="2400"/>
            </a:lvl2pPr>
            <a:lvl3pPr marL="1185333" indent="-296333" algn="ctr">
              <a:spcBef>
                <a:spcPts val="0"/>
              </a:spcBef>
              <a:defRPr sz="2400"/>
            </a:lvl3pPr>
            <a:lvl4pPr marL="1629833" indent="-296333" algn="ctr">
              <a:spcBef>
                <a:spcPts val="0"/>
              </a:spcBef>
              <a:defRPr sz="2400"/>
            </a:lvl4pPr>
            <a:lvl5pPr marL="2074333" indent="-296333" algn="ctr">
              <a:spcBef>
                <a:spcPts val="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21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3800"/>
            </a:pPr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21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Line"/>
          <p:cNvSpPr/>
          <p:nvPr/>
        </p:nvSpPr>
        <p:spPr>
          <a:xfrm>
            <a:off x="629695" y="8893731"/>
            <a:ext cx="11433937" cy="1"/>
          </a:xfrm>
          <a:prstGeom prst="line">
            <a:avLst/>
          </a:prstGeom>
          <a:ln w="12700">
            <a:solidFill>
              <a:srgbClr val="A7A7A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6" name="Before 1980"/>
          <p:cNvSpPr txBox="1"/>
          <p:nvPr/>
        </p:nvSpPr>
        <p:spPr>
          <a:xfrm>
            <a:off x="873653" y="8918531"/>
            <a:ext cx="615553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1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/>
              <a:t>of 3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" name="Before 1980"/>
          <p:cNvSpPr txBox="1"/>
          <p:nvPr userDrawn="1"/>
        </p:nvSpPr>
        <p:spPr>
          <a:xfrm>
            <a:off x="7863792" y="9010786"/>
            <a:ext cx="4324197" cy="287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11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 dirty="0"/>
              <a:t>© 20</a:t>
            </a:r>
            <a:r>
              <a:rPr lang="en-US" sz="1200" dirty="0"/>
              <a:t>24</a:t>
            </a:r>
            <a:r>
              <a:rPr sz="1200" dirty="0"/>
              <a:t> National University of Singapore.</a:t>
            </a:r>
            <a:r>
              <a:rPr lang="en-US" sz="1200" dirty="0"/>
              <a:t> </a:t>
            </a:r>
            <a:r>
              <a:rPr sz="1200" dirty="0"/>
              <a:t>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955" y="8838640"/>
            <a:ext cx="2104189" cy="77855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t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5.png"/><Relationship Id="rId9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19"/>
          <p:cNvSpPr txBox="1"/>
          <p:nvPr/>
        </p:nvSpPr>
        <p:spPr>
          <a:xfrm>
            <a:off x="558799" y="406398"/>
            <a:ext cx="5058195" cy="1315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ct val="80000"/>
              </a:lnSpc>
              <a:defRPr sz="32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NUS-ISS</a:t>
            </a:r>
          </a:p>
          <a:p>
            <a:pPr algn="l">
              <a:lnSpc>
                <a:spcPct val="80000"/>
              </a:lnSpc>
              <a:defRPr sz="3200" i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Intelligent Sensing and Sense Making</a:t>
            </a:r>
          </a:p>
        </p:txBody>
      </p:sp>
      <p:sp>
        <p:nvSpPr>
          <p:cNvPr id="127" name="Before 1980"/>
          <p:cNvSpPr txBox="1"/>
          <p:nvPr/>
        </p:nvSpPr>
        <p:spPr>
          <a:xfrm>
            <a:off x="587925" y="6478858"/>
            <a:ext cx="3340658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© 20</a:t>
            </a:r>
            <a:r>
              <a:rPr lang="en-US" dirty="0"/>
              <a:t>24</a:t>
            </a:r>
            <a:r>
              <a:rPr dirty="0"/>
              <a:t> National University of Singapore.</a:t>
            </a:r>
            <a:endParaRPr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All Rights Reserved.</a:t>
            </a:r>
          </a:p>
        </p:txBody>
      </p:sp>
      <p:sp>
        <p:nvSpPr>
          <p:cNvPr id="129" name="Shape 121"/>
          <p:cNvSpPr txBox="1"/>
          <p:nvPr/>
        </p:nvSpPr>
        <p:spPr>
          <a:xfrm>
            <a:off x="584199" y="2425700"/>
            <a:ext cx="9947741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200" b="1">
                <a:solidFill>
                  <a:srgbClr val="33333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Module 3 - Workshop on sensor signal processing</a:t>
            </a:r>
          </a:p>
        </p:txBody>
      </p:sp>
      <p:sp>
        <p:nvSpPr>
          <p:cNvPr id="130" name="Before 1980"/>
          <p:cNvSpPr txBox="1"/>
          <p:nvPr/>
        </p:nvSpPr>
        <p:spPr>
          <a:xfrm>
            <a:off x="575225" y="4487157"/>
            <a:ext cx="1859483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8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by </a:t>
            </a:r>
            <a:r>
              <a:rPr lang="en-US" dirty="0"/>
              <a:t>Hu Zhengqing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272" y="169390"/>
            <a:ext cx="4836160" cy="178937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21"/>
          <p:cNvSpPr txBox="1"/>
          <p:nvPr/>
        </p:nvSpPr>
        <p:spPr>
          <a:xfrm>
            <a:off x="584199" y="2425700"/>
            <a:ext cx="9947741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200" b="1">
                <a:solidFill>
                  <a:srgbClr val="33333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Dynamic Time Warping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84217" y="8915400"/>
            <a:ext cx="241403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35" name="Shape 125"/>
          <p:cNvSpPr txBox="1"/>
          <p:nvPr/>
        </p:nvSpPr>
        <p:spPr>
          <a:xfrm>
            <a:off x="584200" y="393700"/>
            <a:ext cx="4636890" cy="463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Problem</a:t>
            </a:r>
          </a:p>
        </p:txBody>
      </p:sp>
      <p:pic>
        <p:nvPicPr>
          <p:cNvPr id="136" name="Screenshot 2019-02-27 at 3.09.03 PM.png" descr="Screenshot 2019-02-27 at 3.09.03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5" y="3964732"/>
            <a:ext cx="5265845" cy="39024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Screenshot 2019-02-27 at 3.09.45 PM.png" descr="Screenshot 2019-02-27 at 3.09.45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53" y="3978294"/>
            <a:ext cx="5331384" cy="3902456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Shape 126"/>
          <p:cNvSpPr txBox="1"/>
          <p:nvPr/>
        </p:nvSpPr>
        <p:spPr>
          <a:xfrm>
            <a:off x="6261100" y="406400"/>
            <a:ext cx="5060554" cy="159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How similar are these two signals?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In which manners are they similar?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26"/>
          <p:cNvSpPr txBox="1"/>
          <p:nvPr/>
        </p:nvSpPr>
        <p:spPr>
          <a:xfrm>
            <a:off x="6261100" y="406400"/>
            <a:ext cx="5060554" cy="3444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We can measure the similarity of two signals by calculating the distance between the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t>-th point on one signal and the </a:t>
            </a:r>
            <a:r>
              <a:rPr i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t>-th point on another signal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Simple concept, but could not capture the similarity in shape</a:t>
            </a:r>
          </a:p>
        </p:txBody>
      </p:sp>
      <p:sp>
        <p:nvSpPr>
          <p:cNvPr id="158" name="Before 1980"/>
          <p:cNvSpPr txBox="1"/>
          <p:nvPr/>
        </p:nvSpPr>
        <p:spPr>
          <a:xfrm>
            <a:off x="582095" y="8178386"/>
            <a:ext cx="4641100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"Dynamic Time Warping Algorithm", by Elena Tsiporkova</a:t>
            </a:r>
          </a:p>
        </p:txBody>
      </p:sp>
      <p:sp>
        <p:nvSpPr>
          <p:cNvPr id="15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Can we try ...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Euclidean, Manhattan .....?</a:t>
            </a:r>
          </a:p>
        </p:txBody>
      </p:sp>
      <p:pic>
        <p:nvPicPr>
          <p:cNvPr id="160" name="Screenshot 2019-02-27 at 4.12.32 PM.png" descr="Screenshot 2019-02-27 at 4.12.32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05" y="4112742"/>
            <a:ext cx="7446651" cy="4078605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84217" y="8915400"/>
            <a:ext cx="241403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26"/>
          <p:cNvSpPr txBox="1"/>
          <p:nvPr/>
        </p:nvSpPr>
        <p:spPr>
          <a:xfrm>
            <a:off x="6261100" y="406400"/>
            <a:ext cx="5060554" cy="2696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Elastic alignment between points of two signals produces a better, more intuitive similarity measure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Allow similar shapes to match even if they are out of phase</a:t>
            </a:r>
          </a:p>
        </p:txBody>
      </p:sp>
      <p:sp>
        <p:nvSpPr>
          <p:cNvPr id="164" name="Before 1980"/>
          <p:cNvSpPr txBox="1"/>
          <p:nvPr/>
        </p:nvSpPr>
        <p:spPr>
          <a:xfrm>
            <a:off x="582095" y="8178386"/>
            <a:ext cx="4641100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"Dynamic Time Warping Algorithm", by Elena Tsiporkova</a:t>
            </a:r>
          </a:p>
        </p:txBody>
      </p:sp>
      <p:sp>
        <p:nvSpPr>
          <p:cNvPr id="165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How about ...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non-linear alignment .....?</a:t>
            </a:r>
          </a:p>
        </p:txBody>
      </p:sp>
      <p:pic>
        <p:nvPicPr>
          <p:cNvPr id="166" name="Screenshot 2019-02-27 at 4.17.27 PM.png" descr="Screenshot 2019-02-27 at 4.17.27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2" y="4318408"/>
            <a:ext cx="7196146" cy="388563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84217" y="8915400"/>
            <a:ext cx="241403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26"/>
          <p:cNvSpPr txBox="1"/>
          <p:nvPr/>
        </p:nvSpPr>
        <p:spPr>
          <a:xfrm>
            <a:off x="6261100" y="406400"/>
            <a:ext cx="506055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Consider two distinct signals</a:t>
            </a:r>
          </a:p>
        </p:txBody>
      </p:sp>
      <p:sp>
        <p:nvSpPr>
          <p:cNvPr id="172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Distance 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Another term to say 'similiarity'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Equation"/>
              <p:cNvSpPr txBox="1"/>
              <p:nvPr/>
            </p:nvSpPr>
            <p:spPr>
              <a:xfrm>
                <a:off x="7312783" y="1737867"/>
                <a:ext cx="3102733" cy="3499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17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783" y="1737867"/>
                <a:ext cx="3102733" cy="349907"/>
              </a:xfrm>
              <a:prstGeom prst="rect">
                <a:avLst/>
              </a:prstGeom>
              <a:blipFill>
                <a:blip r:embed="rId3"/>
                <a:stretch>
                  <a:fillRect r="-6483" b="-2456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Equation"/>
              <p:cNvSpPr txBox="1"/>
              <p:nvPr/>
            </p:nvSpPr>
            <p:spPr>
              <a:xfrm>
                <a:off x="7308732" y="1227853"/>
                <a:ext cx="3161634" cy="30395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17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732" y="1227853"/>
                <a:ext cx="3161634" cy="303956"/>
              </a:xfrm>
              <a:prstGeom prst="rect">
                <a:avLst/>
              </a:prstGeom>
              <a:blipFill>
                <a:blip r:embed="rId4"/>
                <a:stretch>
                  <a:fillRect r="-6551" b="-3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5" name="Shape 126"/>
          <p:cNvSpPr txBox="1"/>
          <p:nvPr/>
        </p:nvSpPr>
        <p:spPr>
          <a:xfrm>
            <a:off x="6333872" y="2638784"/>
            <a:ext cx="5060555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distance between the two signals is defined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Equation"/>
              <p:cNvSpPr txBox="1"/>
              <p:nvPr/>
            </p:nvSpPr>
            <p:spPr>
              <a:xfrm>
                <a:off x="8408189" y="3868582"/>
                <a:ext cx="911921" cy="3113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17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189" y="3868582"/>
                <a:ext cx="911921" cy="311360"/>
              </a:xfrm>
              <a:prstGeom prst="rect">
                <a:avLst/>
              </a:prstGeom>
              <a:blipFill>
                <a:blip r:embed="rId5"/>
                <a:stretch>
                  <a:fillRect r="-14667" b="-274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Shape 126"/>
          <p:cNvSpPr txBox="1"/>
          <p:nvPr/>
        </p:nvSpPr>
        <p:spPr>
          <a:xfrm>
            <a:off x="6359272" y="4578862"/>
            <a:ext cx="5060555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Euclidean distance between two signals: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Equation"/>
              <p:cNvSpPr txBox="1"/>
              <p:nvPr/>
            </p:nvSpPr>
            <p:spPr>
              <a:xfrm>
                <a:off x="7203450" y="5743949"/>
                <a:ext cx="3312062" cy="10153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limLow>
                            <m:limLowPr>
                              <m:ctrlP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17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450" y="5743949"/>
                <a:ext cx="3312062" cy="1015365"/>
              </a:xfrm>
              <a:prstGeom prst="rect">
                <a:avLst/>
              </a:prstGeom>
              <a:blipFill>
                <a:blip r:embed="rId6"/>
                <a:stretch>
                  <a:fillRect r="-16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Shape 126"/>
          <p:cNvSpPr txBox="1"/>
          <p:nvPr/>
        </p:nvSpPr>
        <p:spPr>
          <a:xfrm>
            <a:off x="6359272" y="7155614"/>
            <a:ext cx="5060555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3200" b="1" dirty="0">
                <a:solidFill>
                  <a:srgbClr val="FF0000"/>
                </a:solidFill>
              </a:rPr>
              <a:t>Problem: two signals must be of same length!</a:t>
            </a:r>
          </a:p>
        </p:txBody>
      </p:sp>
      <p:sp>
        <p:nvSpPr>
          <p:cNvPr id="18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84217" y="8915400"/>
            <a:ext cx="241403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Screenshot 2019-02-28 at 10.31.11 AM.png" descr="Screenshot 2019-02-28 at 10.31.1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57" y="4519998"/>
            <a:ext cx="5656275" cy="352236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Shape 126"/>
          <p:cNvSpPr txBox="1"/>
          <p:nvPr/>
        </p:nvSpPr>
        <p:spPr>
          <a:xfrm>
            <a:off x="6260101" y="406400"/>
            <a:ext cx="5060555" cy="643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An algorithm to measure similarity between two temporal sequences (signal), which may vary in speed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DTW calculates an optimal match between two given sequences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Sequences are warped along time dimension to determine similarity independent of variations in time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DTW produces warping path, which enables alignment between two signals</a:t>
            </a:r>
          </a:p>
        </p:txBody>
      </p:sp>
      <p:sp>
        <p:nvSpPr>
          <p:cNvPr id="184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https://th.wikipedia.org/wiki/Dynamic_time_warping#/media/File:Euclidean_vs_DTW.jpg</a:t>
            </a:r>
          </a:p>
        </p:txBody>
      </p:sp>
      <p:sp>
        <p:nvSpPr>
          <p:cNvPr id="185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DTW</a:t>
            </a:r>
          </a:p>
        </p:txBody>
      </p:sp>
      <p:sp>
        <p:nvSpPr>
          <p:cNvPr id="18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Screenshot 2019-02-28 at 10.36.09 AM.png" descr="Screenshot 2019-02-28 at 10.36.0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17" y="2984007"/>
            <a:ext cx="9764784" cy="52857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126"/>
          <p:cNvSpPr txBox="1"/>
          <p:nvPr/>
        </p:nvSpPr>
        <p:spPr>
          <a:xfrm>
            <a:off x="6260101" y="406400"/>
            <a:ext cx="5060555" cy="382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Commonly used in speech recognition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Individual never pronounces one word twice in exact way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People never pronounce one word with the same timing</a:t>
            </a:r>
          </a:p>
        </p:txBody>
      </p:sp>
      <p:sp>
        <p:nvSpPr>
          <p:cNvPr id="190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"Speech Recognition - Intro and DTW", by Jan Černocky</a:t>
            </a:r>
          </a:p>
        </p:txBody>
      </p:sp>
      <p:sp>
        <p:nvSpPr>
          <p:cNvPr id="191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Usage</a:t>
            </a:r>
          </a:p>
        </p:txBody>
      </p:sp>
      <p:sp>
        <p:nvSpPr>
          <p:cNvPr id="192" name="&quot;timing&quot;"/>
          <p:cNvSpPr txBox="1"/>
          <p:nvPr/>
        </p:nvSpPr>
        <p:spPr>
          <a:xfrm>
            <a:off x="671125" y="2371863"/>
            <a:ext cx="1118464" cy="436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2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"timing"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125"/>
          <p:cNvSpPr txBox="1"/>
          <p:nvPr/>
        </p:nvSpPr>
        <p:spPr>
          <a:xfrm>
            <a:off x="584200" y="393700"/>
            <a:ext cx="7694168" cy="820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Vs Euclidean (Comparison of Audio Clips Example)</a:t>
            </a:r>
            <a:endParaRPr dirty="0"/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9" y="1452302"/>
            <a:ext cx="5925459" cy="67894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658" y="1452302"/>
            <a:ext cx="5884224" cy="678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7409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87" y="4745396"/>
            <a:ext cx="5950183" cy="3966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33" y="4885096"/>
            <a:ext cx="5182491" cy="3457694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hape 126"/>
          <p:cNvSpPr txBox="1"/>
          <p:nvPr/>
        </p:nvSpPr>
        <p:spPr>
          <a:xfrm>
            <a:off x="6260101" y="406400"/>
            <a:ext cx="5060555" cy="423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Users sign their signature on digital tablet</a:t>
            </a:r>
          </a:p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Dynamic information captured:</a:t>
            </a:r>
          </a:p>
          <a:p>
            <a:pPr marL="254000" indent="-127000" algn="l">
              <a:spcBef>
                <a:spcPts val="100"/>
              </a:spcBef>
              <a:buClr>
                <a:srgbClr val="A7A7A7"/>
              </a:buClr>
              <a:buSzPct val="100000"/>
              <a:buChar char="•"/>
              <a:defRPr sz="18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x position</a:t>
            </a:r>
          </a:p>
          <a:p>
            <a:pPr marL="254000" indent="-127000" algn="l">
              <a:spcBef>
                <a:spcPts val="100"/>
              </a:spcBef>
              <a:buClr>
                <a:srgbClr val="A7A7A7"/>
              </a:buClr>
              <a:buSzPct val="100000"/>
              <a:buChar char="•"/>
              <a:defRPr sz="18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y position</a:t>
            </a:r>
          </a:p>
          <a:p>
            <a:pPr marL="254000" indent="-127000" algn="l">
              <a:spcBef>
                <a:spcPts val="100"/>
              </a:spcBef>
              <a:buClr>
                <a:srgbClr val="A7A7A7"/>
              </a:buClr>
              <a:buSzPct val="100000"/>
              <a:buChar char="•"/>
              <a:defRPr sz="18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pressure</a:t>
            </a:r>
          </a:p>
          <a:p>
            <a:pPr marL="254000" indent="-127000" algn="l">
              <a:spcBef>
                <a:spcPts val="100"/>
              </a:spcBef>
              <a:buClr>
                <a:srgbClr val="A7A7A7"/>
              </a:buClr>
              <a:buSzPct val="100000"/>
              <a:buChar char="•"/>
              <a:defRPr sz="18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SG" dirty="0"/>
              <a:t>a</a:t>
            </a:r>
            <a:r>
              <a:rPr dirty="0" err="1"/>
              <a:t>zimuth</a:t>
            </a:r>
            <a:endParaRPr lang="en-US" dirty="0"/>
          </a:p>
          <a:p>
            <a:pPr marL="254000" indent="-127000" algn="l">
              <a:spcBef>
                <a:spcPts val="100"/>
              </a:spcBef>
              <a:buClr>
                <a:srgbClr val="A7A7A7"/>
              </a:buClr>
              <a:buSzPct val="100000"/>
              <a:buChar char="•"/>
              <a:defRPr sz="18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inclination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Use DTW to check / match signature</a:t>
            </a:r>
          </a:p>
        </p:txBody>
      </p:sp>
      <p:sp>
        <p:nvSpPr>
          <p:cNvPr id="198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"Speech Recognition - Intro and DTW", by Jan Černocky</a:t>
            </a:r>
          </a:p>
        </p:txBody>
      </p:sp>
      <p:sp>
        <p:nvSpPr>
          <p:cNvPr id="19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signature recognition</a:t>
            </a:r>
          </a:p>
        </p:txBody>
      </p:sp>
      <p:sp>
        <p:nvSpPr>
          <p:cNvPr id="20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Screenshot 2019-02-28 at 10.52.29 AM.png" descr="Screenshot 2019-02-28 at 10.52.2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88" y="3798363"/>
            <a:ext cx="8577792" cy="4269240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hape 126"/>
          <p:cNvSpPr txBox="1"/>
          <p:nvPr/>
        </p:nvSpPr>
        <p:spPr>
          <a:xfrm>
            <a:off x="6260101" y="406400"/>
            <a:ext cx="5060555" cy="244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Use DTW to detect stroke (used in rowing competitions)</a:t>
            </a:r>
          </a:p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With strokes detected, predict boat's movement and position when sensor transmission lost</a:t>
            </a:r>
          </a:p>
        </p:txBody>
      </p:sp>
      <p:sp>
        <p:nvSpPr>
          <p:cNvPr id="204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"Movement prediction in rowing using a dynamic time warping base stroke detection", by Groh et al.</a:t>
            </a:r>
          </a:p>
        </p:txBody>
      </p:sp>
      <p:sp>
        <p:nvSpPr>
          <p:cNvPr id="205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Stroke detection (rowing)</a:t>
            </a:r>
          </a:p>
        </p:txBody>
      </p:sp>
      <p:sp>
        <p:nvSpPr>
          <p:cNvPr id="20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126"/>
          <p:cNvSpPr txBox="1"/>
          <p:nvPr/>
        </p:nvSpPr>
        <p:spPr>
          <a:xfrm>
            <a:off x="6260101" y="406400"/>
            <a:ext cx="5060555" cy="281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Use DTW to align peaks in electropherogram (a plot generated by DNA sequencer)</a:t>
            </a:r>
          </a:p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Accurate alignment gives better interpretation (e.g. better RNA secondary structure prediction)</a:t>
            </a:r>
          </a:p>
        </p:txBody>
      </p:sp>
      <p:sp>
        <p:nvSpPr>
          <p:cNvPr id="209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"A peak alignment algorithm with novel improvements in application to electropherogram analysis", by Karabiber</a:t>
            </a:r>
          </a:p>
        </p:txBody>
      </p:sp>
      <p:sp>
        <p:nvSpPr>
          <p:cNvPr id="210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Peak alignment in DNA sequencing</a:t>
            </a:r>
          </a:p>
        </p:txBody>
      </p:sp>
      <p:pic>
        <p:nvPicPr>
          <p:cNvPr id="211" name="Screenshot 2019-02-28 at 1.51.06 PM.png" descr="Screenshot 2019-02-28 at 1.51.06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03" y="3986964"/>
            <a:ext cx="7869189" cy="4008833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with reagent"/>
          <p:cNvSpPr txBox="1"/>
          <p:nvPr/>
        </p:nvSpPr>
        <p:spPr>
          <a:xfrm>
            <a:off x="8396268" y="4007585"/>
            <a:ext cx="1651001" cy="436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2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with reagent</a:t>
            </a:r>
          </a:p>
        </p:txBody>
      </p:sp>
      <p:sp>
        <p:nvSpPr>
          <p:cNvPr id="213" name="without reagent"/>
          <p:cNvSpPr txBox="1"/>
          <p:nvPr/>
        </p:nvSpPr>
        <p:spPr>
          <a:xfrm>
            <a:off x="8414290" y="5867044"/>
            <a:ext cx="2054734" cy="436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2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without reagent</a:t>
            </a:r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215" name="Line"/>
          <p:cNvSpPr/>
          <p:nvPr/>
        </p:nvSpPr>
        <p:spPr>
          <a:xfrm flipV="1">
            <a:off x="6908770" y="3604710"/>
            <a:ext cx="1" cy="4773340"/>
          </a:xfrm>
          <a:prstGeom prst="line">
            <a:avLst/>
          </a:prstGeom>
          <a:ln w="38100">
            <a:solidFill>
              <a:schemeClr val="accent5">
                <a:lumOff val="-8078"/>
              </a:scheme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126"/>
          <p:cNvSpPr txBox="1"/>
          <p:nvPr/>
        </p:nvSpPr>
        <p:spPr>
          <a:xfrm>
            <a:off x="6260101" y="406400"/>
            <a:ext cx="5060555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Start by constructing </a:t>
            </a:r>
            <a:r>
              <a:rPr i="1"/>
              <a:t>n</a:t>
            </a:r>
            <a:r>
              <a:t>  x  </a:t>
            </a:r>
            <a:r>
              <a:rPr i="1"/>
              <a:t>m</a:t>
            </a:r>
            <a:r>
              <a:t> matrix </a:t>
            </a:r>
            <a:r>
              <a:rPr i="1"/>
              <a:t>D</a:t>
            </a:r>
            <a:r>
              <a:t>, in which</a:t>
            </a:r>
          </a:p>
        </p:txBody>
      </p:sp>
      <p:sp>
        <p:nvSpPr>
          <p:cNvPr id="218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"Dynamic time warping algorithm", by Elena Tsiporkova</a:t>
            </a:r>
          </a:p>
        </p:txBody>
      </p:sp>
      <p:sp>
        <p:nvSpPr>
          <p:cNvPr id="21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Overview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Equation"/>
              <p:cNvSpPr txBox="1"/>
              <p:nvPr/>
            </p:nvSpPr>
            <p:spPr>
              <a:xfrm>
                <a:off x="7745099" y="1576915"/>
                <a:ext cx="1853413" cy="3568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99" y="1576915"/>
                <a:ext cx="1853413" cy="356842"/>
              </a:xfrm>
              <a:prstGeom prst="rect">
                <a:avLst/>
              </a:prstGeom>
              <a:blipFill>
                <a:blip r:embed="rId3"/>
                <a:stretch>
                  <a:fillRect r="-17105" b="-224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Shape 126"/>
          <p:cNvSpPr txBox="1"/>
          <p:nvPr/>
        </p:nvSpPr>
        <p:spPr>
          <a:xfrm>
            <a:off x="6260101" y="207140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Equation"/>
              <p:cNvSpPr txBox="1"/>
              <p:nvPr/>
            </p:nvSpPr>
            <p:spPr>
              <a:xfrm>
                <a:off x="7530878" y="2670421"/>
                <a:ext cx="2544554" cy="4119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878" y="2670421"/>
                <a:ext cx="2544554" cy="411972"/>
              </a:xfrm>
              <a:prstGeom prst="rect">
                <a:avLst/>
              </a:prstGeom>
              <a:blipFill>
                <a:blip r:embed="rId4"/>
                <a:stretch>
                  <a:fillRect r="-20096" b="-588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Shape 126"/>
          <p:cNvSpPr txBox="1"/>
          <p:nvPr/>
        </p:nvSpPr>
        <p:spPr>
          <a:xfrm>
            <a:off x="6260101" y="3346925"/>
            <a:ext cx="5060555" cy="2290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Create a warping path </a:t>
            </a:r>
            <a:r>
              <a:rPr i="1" dirty="0"/>
              <a:t>w</a:t>
            </a:r>
            <a:r>
              <a:rPr dirty="0"/>
              <a:t> that maps points between x and y, the path w must satisfy the following</a:t>
            </a:r>
            <a:r>
              <a:rPr lang="en-US" dirty="0"/>
              <a:t> rules</a:t>
            </a:r>
            <a:r>
              <a:rPr dirty="0"/>
              <a:t>: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Boundary conditions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Monotonicity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Continuity </a:t>
            </a:r>
          </a:p>
        </p:txBody>
      </p:sp>
      <p:pic>
        <p:nvPicPr>
          <p:cNvPr id="224" name="Screenshot 2019-02-28 at 2.30.19 PM.png" descr="Screenshot 2019-02-28 at 2.30.19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19" y="6007453"/>
            <a:ext cx="3070261" cy="2101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Screenshot 2019-02-28 at 2.30.42 PM.png" descr="Screenshot 2019-02-28 at 2.30.42 PM.png"/>
          <p:cNvPicPr>
            <a:picLocks noChangeAspect="1"/>
          </p:cNvPicPr>
          <p:nvPr/>
        </p:nvPicPr>
        <p:blipFill>
          <a:blip r:embed="rId6"/>
          <a:srcRect l="7642" b="12342"/>
          <a:stretch>
            <a:fillRect/>
          </a:stretch>
        </p:blipFill>
        <p:spPr>
          <a:xfrm>
            <a:off x="5060759" y="6078458"/>
            <a:ext cx="2497228" cy="1717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Screenshot 2019-02-28 at 2.31.16 PM.png" descr="Screenshot 2019-02-28 at 2.31.16 PM.png"/>
          <p:cNvPicPr>
            <a:picLocks noChangeAspect="1"/>
          </p:cNvPicPr>
          <p:nvPr/>
        </p:nvPicPr>
        <p:blipFill>
          <a:blip r:embed="rId7"/>
          <a:srcRect l="6600" b="14051"/>
          <a:stretch>
            <a:fillRect/>
          </a:stretch>
        </p:blipFill>
        <p:spPr>
          <a:xfrm>
            <a:off x="8877635" y="6078458"/>
            <a:ext cx="2554809" cy="1644809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228" name="Rectangle"/>
          <p:cNvSpPr/>
          <p:nvPr/>
        </p:nvSpPr>
        <p:spPr>
          <a:xfrm>
            <a:off x="1613410" y="7794478"/>
            <a:ext cx="1975975" cy="3147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9" name="Rectangle"/>
          <p:cNvSpPr/>
          <p:nvPr/>
        </p:nvSpPr>
        <p:spPr>
          <a:xfrm>
            <a:off x="668299" y="5966877"/>
            <a:ext cx="368504" cy="18678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32" name="Group"/>
          <p:cNvGrpSpPr/>
          <p:nvPr/>
        </p:nvGrpSpPr>
        <p:grpSpPr>
          <a:xfrm>
            <a:off x="3673183" y="6981697"/>
            <a:ext cx="329584" cy="758529"/>
            <a:chOff x="0" y="0"/>
            <a:chExt cx="329582" cy="758528"/>
          </a:xfrm>
        </p:grpSpPr>
        <p:sp>
          <p:nvSpPr>
            <p:cNvPr id="230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1061489" y="5778441"/>
            <a:ext cx="896418" cy="382911"/>
            <a:chOff x="0" y="0"/>
            <a:chExt cx="896417" cy="382909"/>
          </a:xfrm>
        </p:grpSpPr>
        <p:sp>
          <p:nvSpPr>
            <p:cNvPr id="233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p:sp>
        <p:nvSpPr>
          <p:cNvPr id="236" name="row"/>
          <p:cNvSpPr txBox="1"/>
          <p:nvPr/>
        </p:nvSpPr>
        <p:spPr>
          <a:xfrm>
            <a:off x="9256733" y="203520"/>
            <a:ext cx="400795" cy="298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row</a:t>
            </a:r>
          </a:p>
        </p:txBody>
      </p:sp>
      <p:sp>
        <p:nvSpPr>
          <p:cNvPr id="237" name="clm"/>
          <p:cNvSpPr txBox="1"/>
          <p:nvPr/>
        </p:nvSpPr>
        <p:spPr>
          <a:xfrm>
            <a:off x="9959572" y="203520"/>
            <a:ext cx="390811" cy="298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938" y="1669805"/>
            <a:ext cx="5148177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n x m matrix covers the window boundaries</a:t>
            </a:r>
          </a:p>
          <a:p>
            <a:pPr algn="l"/>
            <a:endParaRPr lang="en-US" sz="3200" b="1" dirty="0">
              <a:solidFill>
                <a:srgbClr val="FF0000"/>
              </a:solidFill>
            </a:endParaRPr>
          </a:p>
          <a:p>
            <a:pPr algn="l"/>
            <a:r>
              <a:rPr lang="en-US" sz="3200" b="1" dirty="0">
                <a:solidFill>
                  <a:srgbClr val="FF0000"/>
                </a:solidFill>
              </a:rPr>
              <a:t>orange curve = correct wrapping path </a:t>
            </a:r>
            <a:endParaRPr kumimoji="0" lang="en-SG" sz="32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090716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16938" y="1660031"/>
            <a:ext cx="5148177" cy="40113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2800" b="1" u="sng" dirty="0">
                <a:solidFill>
                  <a:srgbClr val="FF0000"/>
                </a:solidFill>
              </a:rPr>
              <a:t>1st Rule:</a:t>
            </a:r>
            <a:r>
              <a:rPr lang="en-US" sz="2800" b="1" dirty="0">
                <a:solidFill>
                  <a:srgbClr val="FF0000"/>
                </a:solidFill>
              </a:rPr>
              <a:t> start point from bottom left and end point at top right</a:t>
            </a:r>
          </a:p>
          <a:p>
            <a:pPr algn="l">
              <a:spcAft>
                <a:spcPts val="1200"/>
              </a:spcAft>
            </a:pPr>
            <a:r>
              <a:rPr lang="en-US" sz="2800" b="1" u="sng" dirty="0">
                <a:solidFill>
                  <a:srgbClr val="FF0000"/>
                </a:solidFill>
              </a:rPr>
              <a:t>2nd Rule:</a:t>
            </a:r>
            <a:r>
              <a:rPr lang="en-US" sz="2800" b="1" dirty="0">
                <a:solidFill>
                  <a:srgbClr val="FF0000"/>
                </a:solidFill>
              </a:rPr>
              <a:t> Cannot move back in direction</a:t>
            </a:r>
          </a:p>
          <a:p>
            <a:pPr algn="l">
              <a:spcAft>
                <a:spcPts val="1200"/>
              </a:spcAft>
            </a:pPr>
            <a:r>
              <a:rPr lang="en-US" sz="2800" b="1" u="sng" dirty="0">
                <a:solidFill>
                  <a:srgbClr val="FF0000"/>
                </a:solidFill>
              </a:rPr>
              <a:t>3rd Rule:</a:t>
            </a:r>
            <a:r>
              <a:rPr lang="en-US" sz="2800" b="1" dirty="0">
                <a:solidFill>
                  <a:srgbClr val="FF0000"/>
                </a:solidFill>
              </a:rPr>
              <a:t> cannot have a break in between! Must be continuous</a:t>
            </a:r>
          </a:p>
        </p:txBody>
      </p:sp>
      <p:sp>
        <p:nvSpPr>
          <p:cNvPr id="217" name="Shape 126"/>
          <p:cNvSpPr txBox="1"/>
          <p:nvPr/>
        </p:nvSpPr>
        <p:spPr>
          <a:xfrm>
            <a:off x="6260101" y="406400"/>
            <a:ext cx="5060555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Start by constructing </a:t>
            </a:r>
            <a:r>
              <a:rPr i="1"/>
              <a:t>n</a:t>
            </a:r>
            <a:r>
              <a:t>  x  </a:t>
            </a:r>
            <a:r>
              <a:rPr i="1"/>
              <a:t>m</a:t>
            </a:r>
            <a:r>
              <a:t> matrix </a:t>
            </a:r>
            <a:r>
              <a:rPr i="1"/>
              <a:t>D</a:t>
            </a:r>
            <a:r>
              <a:t>, in which</a:t>
            </a:r>
          </a:p>
        </p:txBody>
      </p:sp>
      <p:sp>
        <p:nvSpPr>
          <p:cNvPr id="218" name="Before 1980"/>
          <p:cNvSpPr txBox="1"/>
          <p:nvPr/>
        </p:nvSpPr>
        <p:spPr>
          <a:xfrm>
            <a:off x="582095" y="8178386"/>
            <a:ext cx="5060555" cy="502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Source: "Dynamic time warping algorithm", by Elena Tsiporkova</a:t>
            </a:r>
          </a:p>
        </p:txBody>
      </p:sp>
      <p:sp>
        <p:nvSpPr>
          <p:cNvPr id="21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Overview of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Equation"/>
              <p:cNvSpPr txBox="1"/>
              <p:nvPr/>
            </p:nvSpPr>
            <p:spPr>
              <a:xfrm>
                <a:off x="7745099" y="1576915"/>
                <a:ext cx="1853413" cy="3568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099" y="1576915"/>
                <a:ext cx="1853413" cy="356842"/>
              </a:xfrm>
              <a:prstGeom prst="rect">
                <a:avLst/>
              </a:prstGeom>
              <a:blipFill>
                <a:blip r:embed="rId3"/>
                <a:stretch>
                  <a:fillRect r="-17105" b="-224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Shape 126"/>
          <p:cNvSpPr txBox="1"/>
          <p:nvPr/>
        </p:nvSpPr>
        <p:spPr>
          <a:xfrm>
            <a:off x="6260101" y="207140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Equation"/>
              <p:cNvSpPr txBox="1"/>
              <p:nvPr/>
            </p:nvSpPr>
            <p:spPr>
              <a:xfrm>
                <a:off x="7530878" y="2670421"/>
                <a:ext cx="2544554" cy="4119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878" y="2670421"/>
                <a:ext cx="2544554" cy="411972"/>
              </a:xfrm>
              <a:prstGeom prst="rect">
                <a:avLst/>
              </a:prstGeom>
              <a:blipFill>
                <a:blip r:embed="rId4"/>
                <a:stretch>
                  <a:fillRect r="-20096" b="-588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Shape 126"/>
          <p:cNvSpPr txBox="1"/>
          <p:nvPr/>
        </p:nvSpPr>
        <p:spPr>
          <a:xfrm>
            <a:off x="6260101" y="3346925"/>
            <a:ext cx="5060555" cy="2290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Create a warping path </a:t>
            </a:r>
            <a:r>
              <a:rPr i="1" dirty="0"/>
              <a:t>w</a:t>
            </a:r>
            <a:r>
              <a:rPr dirty="0"/>
              <a:t> that maps points between x and y, the path w must satisfy the following</a:t>
            </a:r>
            <a:r>
              <a:rPr lang="en-US" dirty="0"/>
              <a:t> rules</a:t>
            </a:r>
            <a:r>
              <a:rPr dirty="0"/>
              <a:t>: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Boundary conditions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Monotonicity</a:t>
            </a:r>
          </a:p>
          <a:p>
            <a:pPr marL="850900" indent="-457200" algn="l">
              <a:buClr>
                <a:srgbClr val="A7A7A7"/>
              </a:buClr>
              <a:buSzPct val="100000"/>
              <a:buFont typeface="+mj-lt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Continuity </a:t>
            </a:r>
          </a:p>
        </p:txBody>
      </p:sp>
      <p:pic>
        <p:nvPicPr>
          <p:cNvPr id="224" name="Screenshot 2019-02-28 at 2.30.19 PM.png" descr="Screenshot 2019-02-28 at 2.30.19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19" y="6007453"/>
            <a:ext cx="3070261" cy="21017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Screenshot 2019-02-28 at 2.30.42 PM.png" descr="Screenshot 2019-02-28 at 2.30.42 PM.png"/>
          <p:cNvPicPr>
            <a:picLocks noChangeAspect="1"/>
          </p:cNvPicPr>
          <p:nvPr/>
        </p:nvPicPr>
        <p:blipFill>
          <a:blip r:embed="rId6"/>
          <a:srcRect l="7642" b="12342"/>
          <a:stretch>
            <a:fillRect/>
          </a:stretch>
        </p:blipFill>
        <p:spPr>
          <a:xfrm>
            <a:off x="5060759" y="6078458"/>
            <a:ext cx="2497228" cy="1717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Screenshot 2019-02-28 at 2.31.16 PM.png" descr="Screenshot 2019-02-28 at 2.31.16 PM.png"/>
          <p:cNvPicPr>
            <a:picLocks noChangeAspect="1"/>
          </p:cNvPicPr>
          <p:nvPr/>
        </p:nvPicPr>
        <p:blipFill>
          <a:blip r:embed="rId7"/>
          <a:srcRect l="6600" b="14051"/>
          <a:stretch>
            <a:fillRect/>
          </a:stretch>
        </p:blipFill>
        <p:spPr>
          <a:xfrm>
            <a:off x="8877635" y="6078458"/>
            <a:ext cx="2554809" cy="1644809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28" name="Rectangle"/>
          <p:cNvSpPr/>
          <p:nvPr/>
        </p:nvSpPr>
        <p:spPr>
          <a:xfrm>
            <a:off x="1613410" y="7794478"/>
            <a:ext cx="1975975" cy="31476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29" name="Rectangle"/>
          <p:cNvSpPr/>
          <p:nvPr/>
        </p:nvSpPr>
        <p:spPr>
          <a:xfrm>
            <a:off x="668299" y="5966877"/>
            <a:ext cx="368504" cy="18678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232" name="Group"/>
          <p:cNvGrpSpPr/>
          <p:nvPr/>
        </p:nvGrpSpPr>
        <p:grpSpPr>
          <a:xfrm>
            <a:off x="3673183" y="6981697"/>
            <a:ext cx="329584" cy="758529"/>
            <a:chOff x="0" y="0"/>
            <a:chExt cx="329582" cy="758528"/>
          </a:xfrm>
        </p:grpSpPr>
        <p:sp>
          <p:nvSpPr>
            <p:cNvPr id="230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1061489" y="5778441"/>
            <a:ext cx="896418" cy="382911"/>
            <a:chOff x="0" y="0"/>
            <a:chExt cx="896417" cy="382909"/>
          </a:xfrm>
        </p:grpSpPr>
        <p:sp>
          <p:nvSpPr>
            <p:cNvPr id="233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p:sp>
        <p:nvSpPr>
          <p:cNvPr id="236" name="row"/>
          <p:cNvSpPr txBox="1"/>
          <p:nvPr/>
        </p:nvSpPr>
        <p:spPr>
          <a:xfrm>
            <a:off x="9256733" y="203520"/>
            <a:ext cx="400795" cy="298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row</a:t>
            </a:r>
          </a:p>
        </p:txBody>
      </p:sp>
      <p:sp>
        <p:nvSpPr>
          <p:cNvPr id="237" name="clm"/>
          <p:cNvSpPr txBox="1"/>
          <p:nvPr/>
        </p:nvSpPr>
        <p:spPr>
          <a:xfrm>
            <a:off x="9959572" y="203520"/>
            <a:ext cx="390811" cy="298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14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clm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Overview of algorithm</a:t>
            </a:r>
          </a:p>
        </p:txBody>
      </p:sp>
      <p:sp>
        <p:nvSpPr>
          <p:cNvPr id="240" name="Shape 126"/>
          <p:cNvSpPr txBox="1"/>
          <p:nvPr/>
        </p:nvSpPr>
        <p:spPr>
          <a:xfrm>
            <a:off x="6260101" y="406400"/>
            <a:ext cx="5060555" cy="1922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DTW algorithm consists of mainly 3 parts:</a:t>
            </a:r>
          </a:p>
          <a:p>
            <a:pPr marL="622300" indent="-228600" algn="l">
              <a:buClr>
                <a:srgbClr val="A7A7A7"/>
              </a:buClr>
              <a:buSzPct val="100000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Compute distance matrix</a:t>
            </a:r>
          </a:p>
          <a:p>
            <a:pPr marL="622300" indent="-228600" algn="l">
              <a:buClr>
                <a:srgbClr val="A7A7A7"/>
              </a:buClr>
              <a:buSzPct val="100000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Compute accumulated cost matrix</a:t>
            </a:r>
          </a:p>
          <a:p>
            <a:pPr marL="622300" indent="-228600" algn="l">
              <a:buClr>
                <a:srgbClr val="A7A7A7"/>
              </a:buClr>
              <a:buSzPct val="100000"/>
              <a:buAutoNum type="arabicPeriod"/>
              <a:defRPr sz="22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Search the optimal path</a:t>
            </a:r>
          </a:p>
        </p:txBody>
      </p:sp>
      <p:sp>
        <p:nvSpPr>
          <p:cNvPr id="241" name="Shape 126"/>
          <p:cNvSpPr txBox="1"/>
          <p:nvPr/>
        </p:nvSpPr>
        <p:spPr>
          <a:xfrm>
            <a:off x="6261100" y="2900386"/>
            <a:ext cx="5060554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To start the code, import the necessary libraries, and setup a bit</a:t>
            </a:r>
          </a:p>
        </p:txBody>
      </p:sp>
      <p:sp>
        <p:nvSpPr>
          <p:cNvPr id="242" name="&gt; import numpy as np…"/>
          <p:cNvSpPr txBox="1"/>
          <p:nvPr/>
        </p:nvSpPr>
        <p:spPr>
          <a:xfrm>
            <a:off x="5921115" y="4101898"/>
            <a:ext cx="6056025" cy="3094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np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pandas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plt.style.use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ytick.right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    =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ytick.labelright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ytick.left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     =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8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plt.rcParams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ytick.labelleft</a:t>
            </a:r>
            <a:r>
              <a:rPr sz="18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sz="1800"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24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4631876"/>
            <a:ext cx="49868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sym typeface="Helvetica Neue"/>
              </a:rPr>
              <a:t>Codes to import libraries and to perform some setup</a:t>
            </a:r>
            <a:endParaRPr lang="en-SG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1. Compute distance matrix</a:t>
            </a:r>
          </a:p>
        </p:txBody>
      </p:sp>
      <p:sp>
        <p:nvSpPr>
          <p:cNvPr id="246" name="Shape 126"/>
          <p:cNvSpPr txBox="1"/>
          <p:nvPr/>
        </p:nvSpPr>
        <p:spPr>
          <a:xfrm>
            <a:off x="6260101" y="406400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Define two simple short signals:</a:t>
            </a:r>
          </a:p>
        </p:txBody>
      </p:sp>
      <p:sp>
        <p:nvSpPr>
          <p:cNvPr id="247" name="Shape 126"/>
          <p:cNvSpPr txBox="1"/>
          <p:nvPr/>
        </p:nvSpPr>
        <p:spPr>
          <a:xfrm>
            <a:off x="6261100" y="2468586"/>
            <a:ext cx="50605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Plot the two signals</a:t>
            </a:r>
          </a:p>
        </p:txBody>
      </p:sp>
      <p:sp>
        <p:nvSpPr>
          <p:cNvPr id="248" name="&gt; plt.figure()…"/>
          <p:cNvSpPr txBox="1"/>
          <p:nvPr/>
        </p:nvSpPr>
        <p:spPr>
          <a:xfrm>
            <a:off x="6295365" y="3289098"/>
            <a:ext cx="4062837" cy="3057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sz="2000"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color=</a:t>
            </a:r>
            <a:r>
              <a:rPr sz="20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"C0"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label=</a:t>
            </a:r>
            <a:r>
              <a:rPr sz="20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(y,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color=</a:t>
            </a:r>
            <a:r>
              <a:rPr sz="20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"C1"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label=</a:t>
            </a:r>
            <a:r>
              <a:rPr sz="2000"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2000"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49" name="&gt; x = np.array([0.5,0.5,2.0,3.0,2.0,0.0])…"/>
          <p:cNvSpPr txBox="1"/>
          <p:nvPr/>
        </p:nvSpPr>
        <p:spPr>
          <a:xfrm>
            <a:off x="5726249" y="1145557"/>
            <a:ext cx="6434454" cy="753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y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pic>
        <p:nvPicPr>
          <p:cNvPr id="250" name="Screenshot 2019-02-28 at 3.08.44 PM.png" descr="Screenshot 2019-02-28 at 3.08.4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64" y="4224802"/>
            <a:ext cx="5462063" cy="40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" grpId="0" build="p" bldLvl="5" animBg="1" advAuto="0"/>
      <p:bldP spid="248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1. Compute distance matrix</a:t>
            </a:r>
          </a:p>
        </p:txBody>
      </p:sp>
      <p:sp>
        <p:nvSpPr>
          <p:cNvPr id="254" name="Shape 126"/>
          <p:cNvSpPr txBox="1"/>
          <p:nvPr/>
        </p:nvSpPr>
        <p:spPr>
          <a:xfrm>
            <a:off x="6260101" y="406400"/>
            <a:ext cx="5060555" cy="119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Compute the distance matrix is straightforward, since the matrix is defined as </a:t>
            </a:r>
          </a:p>
        </p:txBody>
      </p:sp>
      <p:sp>
        <p:nvSpPr>
          <p:cNvPr id="255" name="&gt; dists = np.zeros((len(y),len(x)))…"/>
          <p:cNvSpPr txBox="1"/>
          <p:nvPr/>
        </p:nvSpPr>
        <p:spPr>
          <a:xfrm>
            <a:off x="6285049" y="4762096"/>
            <a:ext cx="5469446" cy="175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(y),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(x)))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(y)):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= (y[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]-x[j])**2</a:t>
            </a:r>
          </a:p>
        </p:txBody>
      </p:sp>
      <p:sp>
        <p:nvSpPr>
          <p:cNvPr id="256" name="[[0.25, 0.25, 4.  , 9.  , 4.  , 0.  ],…"/>
          <p:cNvSpPr txBox="1"/>
          <p:nvPr/>
        </p:nvSpPr>
        <p:spPr>
          <a:xfrm>
            <a:off x="513303" y="5534272"/>
            <a:ext cx="5078027" cy="2885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[[0.25, 0.25, 4.  , 9.  , 4.  , 0.  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[6.25, 6.25, 1.  , 0.  , 1.  , 9.  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[4.  , 4.  , 0.25, 0.25, 0.25, 6.25],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[0.25, 0.25, 1.  , 4.  , 1.  , 1.  ]]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Equation"/>
              <p:cNvSpPr txBox="1"/>
              <p:nvPr/>
            </p:nvSpPr>
            <p:spPr>
              <a:xfrm>
                <a:off x="7770992" y="1912610"/>
                <a:ext cx="1853413" cy="3568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992" y="1912610"/>
                <a:ext cx="1853413" cy="356842"/>
              </a:xfrm>
              <a:prstGeom prst="rect">
                <a:avLst/>
              </a:prstGeom>
              <a:blipFill>
                <a:blip r:embed="rId3"/>
                <a:stretch>
                  <a:fillRect r="-17105" b="-224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Equation"/>
              <p:cNvSpPr txBox="1"/>
              <p:nvPr/>
            </p:nvSpPr>
            <p:spPr>
              <a:xfrm>
                <a:off x="7430946" y="2954188"/>
                <a:ext cx="2544555" cy="4119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5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46" y="2954188"/>
                <a:ext cx="2544555" cy="411972"/>
              </a:xfrm>
              <a:prstGeom prst="rect">
                <a:avLst/>
              </a:prstGeom>
              <a:blipFill>
                <a:blip r:embed="rId4"/>
                <a:stretch>
                  <a:fillRect r="-20384" b="-746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Shape 126"/>
          <p:cNvSpPr txBox="1"/>
          <p:nvPr/>
        </p:nvSpPr>
        <p:spPr>
          <a:xfrm>
            <a:off x="6260101" y="233810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and</a:t>
            </a:r>
          </a:p>
        </p:txBody>
      </p:sp>
      <p:sp>
        <p:nvSpPr>
          <p:cNvPr id="260" name="Shape 126"/>
          <p:cNvSpPr txBox="1"/>
          <p:nvPr/>
        </p:nvSpPr>
        <p:spPr>
          <a:xfrm>
            <a:off x="6260101" y="394139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corresponding code</a:t>
            </a:r>
          </a:p>
        </p:txBody>
      </p:sp>
      <p:sp>
        <p:nvSpPr>
          <p:cNvPr id="261" name="dists"/>
          <p:cNvSpPr txBox="1"/>
          <p:nvPr/>
        </p:nvSpPr>
        <p:spPr>
          <a:xfrm>
            <a:off x="671125" y="4886463"/>
            <a:ext cx="709423" cy="436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2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dists</a:t>
            </a:r>
          </a:p>
        </p:txBody>
      </p:sp>
      <p:sp>
        <p:nvSpPr>
          <p:cNvPr id="26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1" y="1922309"/>
            <a:ext cx="50071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Helvetica Neue"/>
              </a:rPr>
              <a:t>applying </a:t>
            </a:r>
            <a:r>
              <a:rPr lang="en-US" sz="3200" b="1" dirty="0" err="1">
                <a:solidFill>
                  <a:srgbClr val="FF0000"/>
                </a:solidFill>
                <a:sym typeface="Helvetica Neue"/>
              </a:rPr>
              <a:t>maths</a:t>
            </a: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 formula to calculate the distance matrix in DTW </a:t>
            </a:r>
            <a:endParaRPr lang="en-SG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1. Compute distance matrix</a:t>
            </a:r>
          </a:p>
        </p:txBody>
      </p:sp>
      <p:sp>
        <p:nvSpPr>
          <p:cNvPr id="254" name="Shape 126"/>
          <p:cNvSpPr txBox="1"/>
          <p:nvPr/>
        </p:nvSpPr>
        <p:spPr>
          <a:xfrm>
            <a:off x="6260101" y="406400"/>
            <a:ext cx="5060555" cy="119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Compute the distance matrix is straightforward, since the matrix is defined as </a:t>
            </a:r>
          </a:p>
        </p:txBody>
      </p:sp>
      <p:sp>
        <p:nvSpPr>
          <p:cNvPr id="255" name="&gt; dists = np.zeros((len(y),len(x)))…"/>
          <p:cNvSpPr txBox="1"/>
          <p:nvPr/>
        </p:nvSpPr>
        <p:spPr>
          <a:xfrm>
            <a:off x="6285049" y="4762096"/>
            <a:ext cx="5469446" cy="175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(y),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(x)))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(y)):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(x)):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= (y[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]-x[j])**2</a:t>
            </a:r>
          </a:p>
        </p:txBody>
      </p:sp>
      <p:sp>
        <p:nvSpPr>
          <p:cNvPr id="256" name="[[0.25, 0.25, 4.  , 9.  , 4.  , 0.  ],…"/>
          <p:cNvSpPr txBox="1"/>
          <p:nvPr/>
        </p:nvSpPr>
        <p:spPr>
          <a:xfrm>
            <a:off x="513303" y="5534272"/>
            <a:ext cx="5078027" cy="2885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[[0.25, 0.25, 4.  , 9.  , 4.  , 0.  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[6.25, 6.25, 1.  , 0.  , 1.  , 9.  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[4.  , 4.  , 0.25, 0.25, 0.25, 6.25],</a:t>
            </a:r>
          </a:p>
          <a:p>
            <a:pPr algn="l">
              <a:lnSpc>
                <a:spcPts val="31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[0.25, 0.25, 1.  , 4.  , 1.  , 1.  ]]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Equation"/>
              <p:cNvSpPr txBox="1"/>
              <p:nvPr/>
            </p:nvSpPr>
            <p:spPr>
              <a:xfrm>
                <a:off x="7770992" y="1912610"/>
                <a:ext cx="1853413" cy="3568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5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992" y="1912610"/>
                <a:ext cx="1853413" cy="356842"/>
              </a:xfrm>
              <a:prstGeom prst="rect">
                <a:avLst/>
              </a:prstGeom>
              <a:blipFill>
                <a:blip r:embed="rId3"/>
                <a:stretch>
                  <a:fillRect r="-17105" b="-224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Equation"/>
              <p:cNvSpPr txBox="1"/>
              <p:nvPr/>
            </p:nvSpPr>
            <p:spPr>
              <a:xfrm>
                <a:off x="7430946" y="2954188"/>
                <a:ext cx="2544555" cy="4119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5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946" y="2954188"/>
                <a:ext cx="2544555" cy="411972"/>
              </a:xfrm>
              <a:prstGeom prst="rect">
                <a:avLst/>
              </a:prstGeom>
              <a:blipFill>
                <a:blip r:embed="rId4"/>
                <a:stretch>
                  <a:fillRect r="-20384" b="-746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Shape 126"/>
          <p:cNvSpPr txBox="1"/>
          <p:nvPr/>
        </p:nvSpPr>
        <p:spPr>
          <a:xfrm>
            <a:off x="6260101" y="233810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and</a:t>
            </a:r>
          </a:p>
        </p:txBody>
      </p:sp>
      <p:sp>
        <p:nvSpPr>
          <p:cNvPr id="260" name="Shape 126"/>
          <p:cNvSpPr txBox="1"/>
          <p:nvPr/>
        </p:nvSpPr>
        <p:spPr>
          <a:xfrm>
            <a:off x="6260101" y="3941395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corresponding code</a:t>
            </a:r>
          </a:p>
        </p:txBody>
      </p:sp>
      <p:sp>
        <p:nvSpPr>
          <p:cNvPr id="261" name="dists"/>
          <p:cNvSpPr txBox="1"/>
          <p:nvPr/>
        </p:nvSpPr>
        <p:spPr>
          <a:xfrm>
            <a:off x="671125" y="4886463"/>
            <a:ext cx="709423" cy="436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22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dists</a:t>
            </a:r>
          </a:p>
        </p:txBody>
      </p:sp>
      <p:sp>
        <p:nvSpPr>
          <p:cNvPr id="26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4201" y="1554440"/>
            <a:ext cx="500713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3200" b="1" u="sng" dirty="0">
                <a:solidFill>
                  <a:srgbClr val="FF0000"/>
                </a:solidFill>
                <a:sym typeface="Helvetica Neue"/>
              </a:rPr>
              <a:t>Note:</a:t>
            </a: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 Output from these codes is inverted</a:t>
            </a:r>
          </a:p>
          <a:p>
            <a:pPr algn="l"/>
            <a:r>
              <a:rPr lang="en-US" sz="3200" b="1" dirty="0">
                <a:solidFill>
                  <a:srgbClr val="FF0000"/>
                </a:solidFill>
                <a:sym typeface="Helvetica Neue"/>
              </a:rPr>
              <a:t>i.e. top left cell = D[0,0]; bottom left should be D[0,0] instead</a:t>
            </a:r>
            <a:endParaRPr lang="en-SG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0284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1. Compute distance matrix</a:t>
            </a:r>
          </a:p>
        </p:txBody>
      </p:sp>
      <p:sp>
        <p:nvSpPr>
          <p:cNvPr id="265" name="Shape 126"/>
          <p:cNvSpPr txBox="1"/>
          <p:nvPr/>
        </p:nvSpPr>
        <p:spPr>
          <a:xfrm>
            <a:off x="6260101" y="406400"/>
            <a:ext cx="5060555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Create a function to do a plot on the distance matrix</a:t>
            </a:r>
          </a:p>
        </p:txBody>
      </p:sp>
      <p:sp>
        <p:nvSpPr>
          <p:cNvPr id="266" name="&gt; def pltDistances(dists,xlab=&quot;X&quot;,ylab=&quot;Y&quot;,clrmap=&quot;viridis&quot;):…"/>
          <p:cNvSpPr txBox="1"/>
          <p:nvPr/>
        </p:nvSpPr>
        <p:spPr>
          <a:xfrm>
            <a:off x="520666" y="2772409"/>
            <a:ext cx="8640186" cy="573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pltDistances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dists,xlab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viridis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plt.imshow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interpolation=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'nearest'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plt.gca</a:t>
            </a:r>
            <a:r>
              <a:rPr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invert_yaxis</a:t>
            </a:r>
            <a:r>
              <a:rPr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plt.grid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plt.colorbar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pltDistances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dists,clrmap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'Reds'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267" name="Screenshot 2019-02-28 at 3.44.04 PM.png" descr="Screenshot 2019-02-28 at 3.44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895" y="4012405"/>
            <a:ext cx="4237072" cy="4348308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160852" y="2002002"/>
            <a:ext cx="3137647" cy="1617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 hangingPunct="1">
              <a:lnSpc>
                <a:spcPct val="117999"/>
              </a:lnSpc>
              <a:defRPr/>
            </a:pPr>
            <a:r>
              <a:rPr lang="en-US" sz="2800" b="1" dirty="0">
                <a:solidFill>
                  <a:srgbClr val="FF0000"/>
                </a:solidFill>
                <a:sym typeface="Helvetica Neue"/>
              </a:rPr>
              <a:t>Inverted because </a:t>
            </a:r>
            <a:r>
              <a:rPr lang="en-US" sz="2800" b="1" dirty="0" err="1">
                <a:solidFill>
                  <a:srgbClr val="FF0000"/>
                </a:solidFill>
                <a:sym typeface="Helvetica Neue"/>
              </a:rPr>
              <a:t>viridis</a:t>
            </a:r>
            <a:r>
              <a:rPr lang="en-US" sz="2800" b="1" dirty="0">
                <a:solidFill>
                  <a:srgbClr val="FF0000"/>
                </a:solidFill>
                <a:sym typeface="Helvetica Neue"/>
              </a:rPr>
              <a:t> starts from top left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8556695" y="2334031"/>
            <a:ext cx="604157" cy="393206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1. Compute distance matrix</a:t>
            </a:r>
          </a:p>
        </p:txBody>
      </p:sp>
      <p:sp>
        <p:nvSpPr>
          <p:cNvPr id="273" name="Shape 126"/>
          <p:cNvSpPr txBox="1"/>
          <p:nvPr/>
        </p:nvSpPr>
        <p:spPr>
          <a:xfrm>
            <a:off x="6260101" y="406400"/>
            <a:ext cx="5060555" cy="244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Do take note, in the plot, the y axis is inverted</a:t>
            </a:r>
          </a:p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Thus, first row of the matrix corresponds to the last row in the figure</a:t>
            </a:r>
          </a:p>
        </p:txBody>
      </p:sp>
      <p:pic>
        <p:nvPicPr>
          <p:cNvPr id="274" name="Screenshot 2019-02-28 at 3.44.04 PM.png" descr="Screenshot 2019-02-28 at 3.44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895" y="4012405"/>
            <a:ext cx="4237072" cy="4348308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[[0.25, 0.25, 4.  , 9.  , 4.  , 0.  ],…"/>
          <p:cNvSpPr txBox="1"/>
          <p:nvPr/>
        </p:nvSpPr>
        <p:spPr>
          <a:xfrm>
            <a:off x="529499" y="4157674"/>
            <a:ext cx="4472546" cy="3860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[[0.25, 0.25, 4.  , 9.  , 4.  , 0.  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[1.  , 1.  , 0.25, 2.25, 0.25, 2.25],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[6.25, 6.25, 1.  , 0.  , 1.  , 9.  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[4.  , 4.  , 0.25, 0.25, 0.25, 6.25],</a:t>
            </a:r>
          </a:p>
          <a:p>
            <a:pPr algn="l">
              <a:lnSpc>
                <a:spcPts val="4300"/>
              </a:lnSpc>
              <a:defRPr sz="1500">
                <a:solidFill>
                  <a:srgbClr val="53535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[0.25, 0.25, 1.  , 4.  , 1.  , 1.  ]]</a:t>
            </a:r>
          </a:p>
        </p:txBody>
      </p:sp>
      <p:sp>
        <p:nvSpPr>
          <p:cNvPr id="276" name="Line"/>
          <p:cNvSpPr/>
          <p:nvPr/>
        </p:nvSpPr>
        <p:spPr>
          <a:xfrm>
            <a:off x="5063422" y="4570252"/>
            <a:ext cx="368504" cy="1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7" name="Line"/>
          <p:cNvSpPr/>
          <p:nvPr/>
        </p:nvSpPr>
        <p:spPr>
          <a:xfrm flipH="1">
            <a:off x="5444463" y="4557552"/>
            <a:ext cx="1" cy="3060253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8" name="Line"/>
          <p:cNvSpPr/>
          <p:nvPr/>
        </p:nvSpPr>
        <p:spPr>
          <a:xfrm>
            <a:off x="5444464" y="7631138"/>
            <a:ext cx="962016" cy="1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284" name="Shape 126"/>
          <p:cNvSpPr txBox="1"/>
          <p:nvPr/>
        </p:nvSpPr>
        <p:spPr>
          <a:xfrm>
            <a:off x="6260101" y="406400"/>
            <a:ext cx="5060555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accumulated cost matrix is defined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Equation"/>
              <p:cNvSpPr txBox="1"/>
              <p:nvPr/>
            </p:nvSpPr>
            <p:spPr>
              <a:xfrm>
                <a:off x="7025137" y="1773836"/>
                <a:ext cx="5015268" cy="3568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137" y="1773836"/>
                <a:ext cx="5015268" cy="356841"/>
              </a:xfrm>
              <a:prstGeom prst="rect">
                <a:avLst/>
              </a:prstGeom>
              <a:blipFill>
                <a:blip r:embed="rId3"/>
                <a:stretch>
                  <a:fillRect r="-11300" b="-2033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6" name="Table"/>
          <p:cNvGraphicFramePr/>
          <p:nvPr/>
        </p:nvGraphicFramePr>
        <p:xfrm>
          <a:off x="665130" y="4803891"/>
          <a:ext cx="3601728" cy="3344120"/>
        </p:xfrm>
        <a:graphic>
          <a:graphicData uri="http://schemas.openxmlformats.org/drawingml/2006/table">
            <a:tbl>
              <a:tblPr>
                <a:tableStyleId>{33BA23B1-9221-436E-865A-0063620EA4FD}</a:tableStyleId>
              </a:tblPr>
              <a:tblGrid>
                <a:gridCol w="90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6030"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030"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53535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</a:t>
                      </a:r>
                      <a:r>
                        <a:rPr i="1" baseline="-5999"/>
                        <a:t>i, j</a:t>
                      </a:r>
                      <a:r>
                        <a:rPr baseline="-5999"/>
                        <a:t>-1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chemeClr val="accent5">
                              <a:lumOff val="-8078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</a:t>
                      </a:r>
                      <a:r>
                        <a:rPr i="1" baseline="-5999"/>
                        <a:t>i, j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030"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53535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</a:t>
                      </a:r>
                      <a:r>
                        <a:rPr i="1" baseline="-5999"/>
                        <a:t>i</a:t>
                      </a:r>
                      <a:r>
                        <a:rPr baseline="-5999"/>
                        <a:t>-1</a:t>
                      </a:r>
                      <a:r>
                        <a:rPr i="1" baseline="-5999"/>
                        <a:t>, j</a:t>
                      </a:r>
                      <a:r>
                        <a:rPr baseline="-5999"/>
                        <a:t>-1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53535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</a:t>
                      </a:r>
                      <a:r>
                        <a:rPr i="1" baseline="-5999"/>
                        <a:t>i</a:t>
                      </a:r>
                      <a:r>
                        <a:rPr baseline="-5999"/>
                        <a:t>-1 </a:t>
                      </a:r>
                      <a:r>
                        <a:rPr i="1" baseline="-5999"/>
                        <a:t>,j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030"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>
                        <a:defRPr sz="2100"/>
                      </a:pPr>
                      <a:endParaRPr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" name="Shape 126"/>
          <p:cNvSpPr txBox="1"/>
          <p:nvPr/>
        </p:nvSpPr>
        <p:spPr>
          <a:xfrm>
            <a:off x="649734" y="3604465"/>
            <a:ext cx="3632523" cy="1017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4000"/>
              </a:spcBef>
              <a:buClr>
                <a:srgbClr val="A7A7A7"/>
              </a:buClr>
              <a:defRPr sz="20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i, j</a:t>
            </a:r>
            <a:r>
              <a:rPr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t>equals to 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i, j</a:t>
            </a:r>
            <a:r>
              <a:t> plus either 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5999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, j</a:t>
            </a:r>
            <a:r>
              <a:rPr b="1" baseline="-5999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t>, 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i, j</a:t>
            </a:r>
            <a:r>
              <a:rPr b="1" baseline="-5999"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t>or 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baseline="-5999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1" i="1" baseline="-5999">
                <a:latin typeface="Times New Roman"/>
                <a:ea typeface="Times New Roman"/>
                <a:cs typeface="Times New Roman"/>
                <a:sym typeface="Times New Roman"/>
              </a:rPr>
              <a:t>,j </a:t>
            </a:r>
            <a:r>
              <a:t>, whichever has the lowest value</a:t>
            </a:r>
          </a:p>
        </p:txBody>
      </p:sp>
      <p:sp>
        <p:nvSpPr>
          <p:cNvPr id="288" name="Shape 126"/>
          <p:cNvSpPr txBox="1"/>
          <p:nvPr/>
        </p:nvSpPr>
        <p:spPr>
          <a:xfrm>
            <a:off x="6260101" y="295170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i</a:t>
            </a:r>
            <a:r>
              <a:t> and </a:t>
            </a:r>
            <a:r>
              <a:rPr i="1"/>
              <a:t>j</a:t>
            </a:r>
            <a:r>
              <a:t> equals to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Equation"/>
              <p:cNvSpPr txBox="1"/>
              <p:nvPr/>
            </p:nvSpPr>
            <p:spPr>
              <a:xfrm>
                <a:off x="7037645" y="3900731"/>
                <a:ext cx="1427295" cy="33641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8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645" y="3900731"/>
                <a:ext cx="1427295" cy="336415"/>
              </a:xfrm>
              <a:prstGeom prst="rect">
                <a:avLst/>
              </a:prstGeom>
              <a:blipFill>
                <a:blip r:embed="rId4"/>
                <a:stretch>
                  <a:fillRect r="-5106" b="-2545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Shape 126"/>
          <p:cNvSpPr txBox="1"/>
          <p:nvPr/>
        </p:nvSpPr>
        <p:spPr>
          <a:xfrm>
            <a:off x="6260101" y="481618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i </a:t>
            </a:r>
            <a:r>
              <a:t>equals to 0 (first row)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Equation"/>
              <p:cNvSpPr txBox="1"/>
              <p:nvPr/>
            </p:nvSpPr>
            <p:spPr>
              <a:xfrm>
                <a:off x="7052542" y="5762012"/>
                <a:ext cx="2449774" cy="35188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9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542" y="5762012"/>
                <a:ext cx="2449774" cy="351888"/>
              </a:xfrm>
              <a:prstGeom prst="rect">
                <a:avLst/>
              </a:prstGeom>
              <a:blipFill>
                <a:blip r:embed="rId5"/>
                <a:stretch>
                  <a:fillRect l="-249" r="-10448" b="-2241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Line"/>
          <p:cNvSpPr/>
          <p:nvPr/>
        </p:nvSpPr>
        <p:spPr>
          <a:xfrm flipV="1">
            <a:off x="4417923" y="5278297"/>
            <a:ext cx="1" cy="758529"/>
          </a:xfrm>
          <a:prstGeom prst="line">
            <a:avLst/>
          </a:prstGeom>
          <a:ln w="25400">
            <a:solidFill>
              <a:srgbClr val="A7A7A7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93" name="i"/>
          <p:cNvSpPr txBox="1"/>
          <p:nvPr/>
        </p:nvSpPr>
        <p:spPr>
          <a:xfrm>
            <a:off x="4562637" y="5466106"/>
            <a:ext cx="184870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2000" b="1" i="1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defRPr b="0" i="0">
                <a:latin typeface="+mn-lt"/>
                <a:ea typeface="+mn-ea"/>
                <a:cs typeface="+mn-cs"/>
                <a:sym typeface="Helvetica Neue"/>
              </a:defRPr>
            </a:pPr>
            <a:r>
              <a:rPr b="1" i="1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</a:p>
        </p:txBody>
      </p:sp>
      <p:sp>
        <p:nvSpPr>
          <p:cNvPr id="294" name="Line"/>
          <p:cNvSpPr/>
          <p:nvPr/>
        </p:nvSpPr>
        <p:spPr>
          <a:xfrm>
            <a:off x="3054958" y="8390474"/>
            <a:ext cx="618364" cy="1"/>
          </a:xfrm>
          <a:prstGeom prst="line">
            <a:avLst/>
          </a:prstGeom>
          <a:ln w="25400">
            <a:solidFill>
              <a:srgbClr val="A7A7A7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95" name="j"/>
          <p:cNvSpPr txBox="1"/>
          <p:nvPr/>
        </p:nvSpPr>
        <p:spPr>
          <a:xfrm>
            <a:off x="3766506" y="8199019"/>
            <a:ext cx="184871" cy="382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2000" b="1" i="1">
                <a:solidFill>
                  <a:srgbClr val="53535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defRPr b="0" i="0">
                <a:latin typeface="+mn-lt"/>
                <a:ea typeface="+mn-ea"/>
                <a:cs typeface="+mn-cs"/>
                <a:sym typeface="Helvetica Neue"/>
              </a:defRPr>
            </a:pPr>
            <a:r>
              <a:rPr b="1" i="1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</a:p>
        </p:txBody>
      </p:sp>
      <p:sp>
        <p:nvSpPr>
          <p:cNvPr id="296" name="Shape 126"/>
          <p:cNvSpPr txBox="1"/>
          <p:nvPr/>
        </p:nvSpPr>
        <p:spPr>
          <a:xfrm>
            <a:off x="6260101" y="6765969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j </a:t>
            </a:r>
            <a:r>
              <a:t>equals to 0 (first column)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Equation"/>
              <p:cNvSpPr txBox="1"/>
              <p:nvPr/>
            </p:nvSpPr>
            <p:spPr>
              <a:xfrm>
                <a:off x="7076449" y="7621645"/>
                <a:ext cx="2401960" cy="3364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m:oMathPara>
                </a14:m>
                <a:endParaRPr sz="2600"/>
              </a:p>
            </p:txBody>
          </p:sp>
        </mc:Choice>
        <mc:Fallback xmlns="">
          <p:sp>
            <p:nvSpPr>
              <p:cNvPr id="2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449" y="7621645"/>
                <a:ext cx="2401960" cy="336416"/>
              </a:xfrm>
              <a:prstGeom prst="rect">
                <a:avLst/>
              </a:prstGeom>
              <a:blipFill>
                <a:blip r:embed="rId6"/>
                <a:stretch>
                  <a:fillRect l="-254" r="-9137" b="-2545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1815106"/>
            <a:ext cx="5278718" cy="1254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 hangingPunct="1">
              <a:lnSpc>
                <a:spcPct val="117999"/>
              </a:lnSpc>
              <a:defRPr/>
            </a:pP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Cost matrix important to determine wrapping path!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301" name="Shape 126"/>
          <p:cNvSpPr txBox="1"/>
          <p:nvPr/>
        </p:nvSpPr>
        <p:spPr>
          <a:xfrm>
            <a:off x="6260101" y="38388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i </a:t>
            </a:r>
            <a:r>
              <a:t>equals to 0 (first row)</a:t>
            </a:r>
          </a:p>
        </p:txBody>
      </p:sp>
      <p:grpSp>
        <p:nvGrpSpPr>
          <p:cNvPr id="304" name="Group"/>
          <p:cNvGrpSpPr/>
          <p:nvPr/>
        </p:nvGrpSpPr>
        <p:grpSpPr>
          <a:xfrm>
            <a:off x="5124456" y="7870765"/>
            <a:ext cx="329584" cy="758529"/>
            <a:chOff x="0" y="0"/>
            <a:chExt cx="329582" cy="758528"/>
          </a:xfrm>
        </p:grpSpPr>
        <p:sp>
          <p:nvSpPr>
            <p:cNvPr id="302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3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grpSp>
        <p:nvGrpSpPr>
          <p:cNvPr id="307" name="Group"/>
          <p:cNvGrpSpPr/>
          <p:nvPr/>
        </p:nvGrpSpPr>
        <p:grpSpPr>
          <a:xfrm>
            <a:off x="734626" y="3856485"/>
            <a:ext cx="896418" cy="382911"/>
            <a:chOff x="0" y="0"/>
            <a:chExt cx="896417" cy="382909"/>
          </a:xfrm>
        </p:grpSpPr>
        <p:sp>
          <p:nvSpPr>
            <p:cNvPr id="305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6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p:sp>
        <p:nvSpPr>
          <p:cNvPr id="308" name="Shape 126"/>
          <p:cNvSpPr txBox="1"/>
          <p:nvPr/>
        </p:nvSpPr>
        <p:spPr>
          <a:xfrm>
            <a:off x="6260101" y="1978069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j </a:t>
            </a:r>
            <a:r>
              <a:t>equals to 0 (first column)</a:t>
            </a:r>
          </a:p>
        </p:txBody>
      </p:sp>
      <p:sp>
        <p:nvSpPr>
          <p:cNvPr id="30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graphicFrame>
        <p:nvGraphicFramePr>
          <p:cNvPr id="310" name="Table"/>
          <p:cNvGraphicFramePr/>
          <p:nvPr/>
        </p:nvGraphicFramePr>
        <p:xfrm>
          <a:off x="665861" y="4351432"/>
          <a:ext cx="4185336" cy="42715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7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-807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-807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1" name="Table"/>
          <p:cNvGraphicFramePr/>
          <p:nvPr/>
        </p:nvGraphicFramePr>
        <p:xfrm>
          <a:off x="6473051" y="4345082"/>
          <a:ext cx="4197144" cy="42842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804"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804"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sz="16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chemeClr val="accent6">
                        <a:lumOff val="-8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chemeClr val="accent1">
                        <a:satOff val="-36923"/>
                        <a:lumOff val="1544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chemeClr val="accent6">
                        <a:lumOff val="-8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Equation"/>
              <p:cNvSpPr txBox="1"/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1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Equation"/>
              <p:cNvSpPr txBox="1"/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blipFill>
                <a:blip r:embed="rId4"/>
                <a:stretch>
                  <a:fillRect l="-1923" b="-4736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9" name="Group"/>
          <p:cNvGrpSpPr/>
          <p:nvPr/>
        </p:nvGrpSpPr>
        <p:grpSpPr>
          <a:xfrm>
            <a:off x="7084958" y="1231872"/>
            <a:ext cx="2847222" cy="351888"/>
            <a:chOff x="0" y="0"/>
            <a:chExt cx="2847221" cy="351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Equation"/>
                <p:cNvSpPr txBox="1"/>
                <p:nvPr/>
              </p:nvSpPr>
              <p:spPr>
                <a:xfrm>
                  <a:off x="0" y="0"/>
                  <a:ext cx="471864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1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71864" cy="351888"/>
                </a:xfrm>
                <a:prstGeom prst="rect">
                  <a:avLst/>
                </a:prstGeom>
                <a:blipFill>
                  <a:blip r:embed="rId5"/>
                  <a:stretch>
                    <a:fillRect l="-1282" r="-6410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5" name="Equation"/>
                <p:cNvSpPr txBox="1"/>
                <p:nvPr/>
              </p:nvSpPr>
              <p:spPr>
                <a:xfrm>
                  <a:off x="1091539" y="2476"/>
                  <a:ext cx="491163" cy="346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1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539" y="2476"/>
                  <a:ext cx="491163" cy="346936"/>
                </a:xfrm>
                <a:prstGeom prst="rect">
                  <a:avLst/>
                </a:prstGeom>
                <a:blipFill>
                  <a:blip r:embed="rId6"/>
                  <a:stretch>
                    <a:fillRect r="-2469" b="-263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Equation"/>
                <p:cNvSpPr txBox="1"/>
                <p:nvPr/>
              </p:nvSpPr>
              <p:spPr>
                <a:xfrm>
                  <a:off x="2122629" y="0"/>
                  <a:ext cx="724593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1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629" y="0"/>
                  <a:ext cx="724593" cy="351888"/>
                </a:xfrm>
                <a:prstGeom prst="rect">
                  <a:avLst/>
                </a:prstGeom>
                <a:blipFill>
                  <a:blip r:embed="rId7"/>
                  <a:stretch>
                    <a:fillRect r="-13445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Equation"/>
                <p:cNvSpPr txBox="1"/>
                <p:nvPr/>
              </p:nvSpPr>
              <p:spPr>
                <a:xfrm>
                  <a:off x="684292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1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92" y="119162"/>
                  <a:ext cx="194819" cy="88164"/>
                </a:xfrm>
                <a:prstGeom prst="rect">
                  <a:avLst/>
                </a:prstGeom>
                <a:blipFill>
                  <a:blip r:embed="rId8"/>
                  <a:stretch>
                    <a:fillRect r="-15625" b="-22142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Equation"/>
                <p:cNvSpPr txBox="1"/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1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blipFill>
                  <a:blip r:embed="rId9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5" name="Group"/>
          <p:cNvGrpSpPr/>
          <p:nvPr/>
        </p:nvGrpSpPr>
        <p:grpSpPr>
          <a:xfrm>
            <a:off x="7084958" y="2786582"/>
            <a:ext cx="2843049" cy="336415"/>
            <a:chOff x="0" y="0"/>
            <a:chExt cx="2843048" cy="3364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0" name="Equation"/>
                <p:cNvSpPr txBox="1"/>
                <p:nvPr/>
              </p:nvSpPr>
              <p:spPr>
                <a:xfrm>
                  <a:off x="0" y="0"/>
                  <a:ext cx="442605" cy="336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2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42605" cy="336415"/>
                </a:xfrm>
                <a:prstGeom prst="rect">
                  <a:avLst/>
                </a:prstGeom>
                <a:blipFill>
                  <a:blip r:embed="rId10"/>
                  <a:stretch>
                    <a:fillRect l="-1370" r="-8219" b="-2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Equation"/>
                <p:cNvSpPr txBox="1"/>
                <p:nvPr/>
              </p:nvSpPr>
              <p:spPr>
                <a:xfrm>
                  <a:off x="1091539" y="2476"/>
                  <a:ext cx="465060" cy="3314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2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539" y="2476"/>
                  <a:ext cx="465060" cy="331462"/>
                </a:xfrm>
                <a:prstGeom prst="rect">
                  <a:avLst/>
                </a:prstGeom>
                <a:blipFill>
                  <a:blip r:embed="rId11"/>
                  <a:stretch>
                    <a:fillRect r="-2597" b="-259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Equation"/>
                <p:cNvSpPr txBox="1"/>
                <p:nvPr/>
              </p:nvSpPr>
              <p:spPr>
                <a:xfrm>
                  <a:off x="2122629" y="0"/>
                  <a:ext cx="720420" cy="336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2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629" y="0"/>
                  <a:ext cx="720420" cy="336415"/>
                </a:xfrm>
                <a:prstGeom prst="rect">
                  <a:avLst/>
                </a:prstGeom>
                <a:blipFill>
                  <a:blip r:embed="rId12"/>
                  <a:stretch>
                    <a:fillRect r="-9244" b="-2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Equation"/>
                <p:cNvSpPr txBox="1"/>
                <p:nvPr/>
              </p:nvSpPr>
              <p:spPr>
                <a:xfrm>
                  <a:off x="684293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2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93" y="119162"/>
                  <a:ext cx="194819" cy="88164"/>
                </a:xfrm>
                <a:prstGeom prst="rect">
                  <a:avLst/>
                </a:prstGeom>
                <a:blipFill>
                  <a:blip r:embed="rId13"/>
                  <a:stretch>
                    <a:fillRect r="-15625" b="-22142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Equation"/>
                <p:cNvSpPr txBox="1"/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2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blipFill>
                  <a:blip r:embed="rId9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330" name="Shape 126"/>
          <p:cNvSpPr txBox="1"/>
          <p:nvPr/>
        </p:nvSpPr>
        <p:spPr>
          <a:xfrm>
            <a:off x="6260101" y="38388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i </a:t>
            </a:r>
            <a:r>
              <a:t>equals to 0 (first row)</a:t>
            </a:r>
          </a:p>
        </p:txBody>
      </p:sp>
      <p:grpSp>
        <p:nvGrpSpPr>
          <p:cNvPr id="333" name="Group"/>
          <p:cNvGrpSpPr/>
          <p:nvPr/>
        </p:nvGrpSpPr>
        <p:grpSpPr>
          <a:xfrm>
            <a:off x="5124456" y="7870765"/>
            <a:ext cx="329584" cy="758529"/>
            <a:chOff x="0" y="0"/>
            <a:chExt cx="329582" cy="758528"/>
          </a:xfrm>
        </p:grpSpPr>
        <p:sp>
          <p:nvSpPr>
            <p:cNvPr id="331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2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sp>
        <p:nvSpPr>
          <p:cNvPr id="334" name="Shape 126"/>
          <p:cNvSpPr txBox="1"/>
          <p:nvPr/>
        </p:nvSpPr>
        <p:spPr>
          <a:xfrm>
            <a:off x="6260101" y="1978069"/>
            <a:ext cx="506055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When </a:t>
            </a:r>
            <a:r>
              <a:rPr i="1"/>
              <a:t>j </a:t>
            </a:r>
            <a:r>
              <a:t>equals to 0 (first column)</a:t>
            </a:r>
          </a:p>
        </p:txBody>
      </p:sp>
      <p:sp>
        <p:nvSpPr>
          <p:cNvPr id="33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graphicFrame>
        <p:nvGraphicFramePr>
          <p:cNvPr id="336" name="Table"/>
          <p:cNvGraphicFramePr/>
          <p:nvPr/>
        </p:nvGraphicFramePr>
        <p:xfrm>
          <a:off x="665861" y="4351432"/>
          <a:ext cx="4185336" cy="42715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7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chemeClr val="accent5">
                        <a:lumOff val="-807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-807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7" name="Table"/>
          <p:cNvGraphicFramePr/>
          <p:nvPr/>
        </p:nvGraphicFramePr>
        <p:xfrm>
          <a:off x="6473051" y="4345082"/>
          <a:ext cx="4197144" cy="42842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804"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804">
                <a:tc>
                  <a:txBody>
                    <a:bodyPr/>
                    <a:lstStyle/>
                    <a:p>
                      <a:pPr indent="228600">
                        <a:defRPr sz="1600"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chemeClr val="accent6">
                        <a:lumOff val="-8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9.5</a:t>
                      </a:r>
                    </a:p>
                  </a:txBody>
                  <a:tcPr marL="0" marR="0" marT="0" marB="0" anchor="ctr" horzOverflow="overflow">
                    <a:solidFill>
                      <a:schemeClr val="accent1">
                        <a:satOff val="-36923"/>
                        <a:lumOff val="1544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13.5</a:t>
                      </a:r>
                    </a:p>
                  </a:txBody>
                  <a:tcPr marL="0" marR="0" marT="0" marB="0" anchor="ctr" horzOverflow="overflow">
                    <a:solidFill>
                      <a:schemeClr val="accent1">
                        <a:satOff val="-36923"/>
                        <a:lumOff val="1544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chemeClr val="accent6">
                        <a:lumOff val="-8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40" name="Group"/>
          <p:cNvGrpSpPr/>
          <p:nvPr/>
        </p:nvGrpSpPr>
        <p:grpSpPr>
          <a:xfrm>
            <a:off x="734626" y="3856485"/>
            <a:ext cx="896418" cy="382911"/>
            <a:chOff x="0" y="0"/>
            <a:chExt cx="896417" cy="382909"/>
          </a:xfrm>
        </p:grpSpPr>
        <p:sp>
          <p:nvSpPr>
            <p:cNvPr id="338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39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Equation"/>
              <p:cNvSpPr txBox="1"/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4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Equation"/>
              <p:cNvSpPr txBox="1"/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4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blipFill>
                <a:blip r:embed="rId4"/>
                <a:stretch>
                  <a:fillRect l="-1923" b="-4736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8" name="Group"/>
          <p:cNvGrpSpPr/>
          <p:nvPr/>
        </p:nvGrpSpPr>
        <p:grpSpPr>
          <a:xfrm>
            <a:off x="7084958" y="1231872"/>
            <a:ext cx="2847222" cy="351888"/>
            <a:chOff x="0" y="0"/>
            <a:chExt cx="2847221" cy="351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Equation"/>
                <p:cNvSpPr txBox="1"/>
                <p:nvPr/>
              </p:nvSpPr>
              <p:spPr>
                <a:xfrm>
                  <a:off x="0" y="0"/>
                  <a:ext cx="471864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4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71864" cy="351888"/>
                </a:xfrm>
                <a:prstGeom prst="rect">
                  <a:avLst/>
                </a:prstGeom>
                <a:blipFill>
                  <a:blip r:embed="rId5"/>
                  <a:stretch>
                    <a:fillRect l="-1282" r="-6410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4" name="Equation"/>
                <p:cNvSpPr txBox="1"/>
                <p:nvPr/>
              </p:nvSpPr>
              <p:spPr>
                <a:xfrm>
                  <a:off x="1091539" y="2476"/>
                  <a:ext cx="491163" cy="346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4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539" y="2476"/>
                  <a:ext cx="491163" cy="346936"/>
                </a:xfrm>
                <a:prstGeom prst="rect">
                  <a:avLst/>
                </a:prstGeom>
                <a:blipFill>
                  <a:blip r:embed="rId6"/>
                  <a:stretch>
                    <a:fillRect r="-2469" b="-263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Equation"/>
                <p:cNvSpPr txBox="1"/>
                <p:nvPr/>
              </p:nvSpPr>
              <p:spPr>
                <a:xfrm>
                  <a:off x="2122629" y="0"/>
                  <a:ext cx="724593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4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629" y="0"/>
                  <a:ext cx="724593" cy="351888"/>
                </a:xfrm>
                <a:prstGeom prst="rect">
                  <a:avLst/>
                </a:prstGeom>
                <a:blipFill>
                  <a:blip r:embed="rId7"/>
                  <a:stretch>
                    <a:fillRect r="-13445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6" name="Equation"/>
                <p:cNvSpPr txBox="1"/>
                <p:nvPr/>
              </p:nvSpPr>
              <p:spPr>
                <a:xfrm>
                  <a:off x="684292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4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92" y="119162"/>
                  <a:ext cx="194819" cy="88164"/>
                </a:xfrm>
                <a:prstGeom prst="rect">
                  <a:avLst/>
                </a:prstGeom>
                <a:blipFill>
                  <a:blip r:embed="rId8"/>
                  <a:stretch>
                    <a:fillRect r="-15625" b="-22142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7" name="Equation"/>
                <p:cNvSpPr txBox="1"/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4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blipFill>
                  <a:blip r:embed="rId9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4" name="Group"/>
          <p:cNvGrpSpPr/>
          <p:nvPr/>
        </p:nvGrpSpPr>
        <p:grpSpPr>
          <a:xfrm>
            <a:off x="7084958" y="2786582"/>
            <a:ext cx="2843049" cy="336415"/>
            <a:chOff x="0" y="0"/>
            <a:chExt cx="2843048" cy="3364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9" name="Equation"/>
                <p:cNvSpPr txBox="1"/>
                <p:nvPr/>
              </p:nvSpPr>
              <p:spPr>
                <a:xfrm>
                  <a:off x="0" y="0"/>
                  <a:ext cx="442605" cy="336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4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42605" cy="336415"/>
                </a:xfrm>
                <a:prstGeom prst="rect">
                  <a:avLst/>
                </a:prstGeom>
                <a:blipFill>
                  <a:blip r:embed="rId10"/>
                  <a:stretch>
                    <a:fillRect l="-1370" r="-8219" b="-2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0" name="Equation"/>
                <p:cNvSpPr txBox="1"/>
                <p:nvPr/>
              </p:nvSpPr>
              <p:spPr>
                <a:xfrm>
                  <a:off x="1091539" y="2476"/>
                  <a:ext cx="465060" cy="3314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5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539" y="2476"/>
                  <a:ext cx="465060" cy="331462"/>
                </a:xfrm>
                <a:prstGeom prst="rect">
                  <a:avLst/>
                </a:prstGeom>
                <a:blipFill>
                  <a:blip r:embed="rId11"/>
                  <a:stretch>
                    <a:fillRect r="-2597" b="-2592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1" name="Equation"/>
                <p:cNvSpPr txBox="1"/>
                <p:nvPr/>
              </p:nvSpPr>
              <p:spPr>
                <a:xfrm>
                  <a:off x="2122629" y="0"/>
                  <a:ext cx="720420" cy="336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5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2629" y="0"/>
                  <a:ext cx="720420" cy="336415"/>
                </a:xfrm>
                <a:prstGeom prst="rect">
                  <a:avLst/>
                </a:prstGeom>
                <a:blipFill>
                  <a:blip r:embed="rId12"/>
                  <a:stretch>
                    <a:fillRect r="-9244" b="-2545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2" name="Equation"/>
                <p:cNvSpPr txBox="1"/>
                <p:nvPr/>
              </p:nvSpPr>
              <p:spPr>
                <a:xfrm>
                  <a:off x="684293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5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293" y="119162"/>
                  <a:ext cx="194819" cy="88164"/>
                </a:xfrm>
                <a:prstGeom prst="rect">
                  <a:avLst/>
                </a:prstGeom>
                <a:blipFill>
                  <a:blip r:embed="rId13"/>
                  <a:stretch>
                    <a:fillRect r="-15625" b="-22142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3" name="Equation"/>
                <p:cNvSpPr txBox="1"/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5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256" y="55662"/>
                  <a:ext cx="194489" cy="194488"/>
                </a:xfrm>
                <a:prstGeom prst="rect">
                  <a:avLst/>
                </a:prstGeom>
                <a:blipFill>
                  <a:blip r:embed="rId9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359" name="Shape 126"/>
          <p:cNvSpPr txBox="1"/>
          <p:nvPr/>
        </p:nvSpPr>
        <p:spPr>
          <a:xfrm>
            <a:off x="6260101" y="38388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Else</a:t>
            </a:r>
          </a:p>
        </p:txBody>
      </p:sp>
      <p:grpSp>
        <p:nvGrpSpPr>
          <p:cNvPr id="362" name="Group"/>
          <p:cNvGrpSpPr/>
          <p:nvPr/>
        </p:nvGrpSpPr>
        <p:grpSpPr>
          <a:xfrm>
            <a:off x="5124456" y="7870765"/>
            <a:ext cx="329584" cy="758529"/>
            <a:chOff x="0" y="0"/>
            <a:chExt cx="329582" cy="758528"/>
          </a:xfrm>
        </p:grpSpPr>
        <p:sp>
          <p:nvSpPr>
            <p:cNvPr id="360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1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sp>
        <p:nvSpPr>
          <p:cNvPr id="36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graphicFrame>
        <p:nvGraphicFramePr>
          <p:cNvPr id="364" name="Table"/>
          <p:cNvGraphicFramePr/>
          <p:nvPr/>
        </p:nvGraphicFramePr>
        <p:xfrm>
          <a:off x="665861" y="4351432"/>
          <a:ext cx="4185336" cy="42715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7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-807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5" name="Table"/>
          <p:cNvGraphicFramePr/>
          <p:nvPr/>
        </p:nvGraphicFramePr>
        <p:xfrm>
          <a:off x="6473051" y="4345082"/>
          <a:ext cx="4197144" cy="4284208"/>
        </p:xfrm>
        <a:graphic>
          <a:graphicData uri="http://schemas.openxmlformats.org/drawingml/2006/table">
            <a:tbl>
              <a:tblPr firstRow="1" firstCol="1" bandRow="1">
                <a:tableStyleId>{4C3C2611-4C71-4FC5-86AE-919BDF0F9419}</a:tableStyleId>
              </a:tblPr>
              <a:tblGrid>
                <a:gridCol w="69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80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13.75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80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chemeClr val="accent6">
                        <a:lumOff val="-8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chemeClr val="accent1">
                        <a:satOff val="-36923"/>
                        <a:lumOff val="1544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17.5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17.5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68" name="Group"/>
          <p:cNvGrpSpPr/>
          <p:nvPr/>
        </p:nvGrpSpPr>
        <p:grpSpPr>
          <a:xfrm>
            <a:off x="734626" y="3856485"/>
            <a:ext cx="896418" cy="382911"/>
            <a:chOff x="0" y="0"/>
            <a:chExt cx="896417" cy="382909"/>
          </a:xfrm>
        </p:grpSpPr>
        <p:sp>
          <p:nvSpPr>
            <p:cNvPr id="366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67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Equation"/>
              <p:cNvSpPr txBox="1"/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6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Equation"/>
              <p:cNvSpPr txBox="1"/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7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blipFill>
                <a:blip r:embed="rId4"/>
                <a:stretch>
                  <a:fillRect l="-1923" b="-4736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6" name="Group"/>
          <p:cNvGrpSpPr/>
          <p:nvPr/>
        </p:nvGrpSpPr>
        <p:grpSpPr>
          <a:xfrm>
            <a:off x="5785205" y="1369732"/>
            <a:ext cx="5237918" cy="369427"/>
            <a:chOff x="0" y="0"/>
            <a:chExt cx="5237917" cy="369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Equation"/>
                <p:cNvSpPr txBox="1"/>
                <p:nvPr/>
              </p:nvSpPr>
              <p:spPr>
                <a:xfrm>
                  <a:off x="0" y="0"/>
                  <a:ext cx="416663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7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16663" cy="351888"/>
                </a:xfrm>
                <a:prstGeom prst="rect">
                  <a:avLst/>
                </a:prstGeom>
                <a:blipFill>
                  <a:blip r:embed="rId5"/>
                  <a:stretch>
                    <a:fillRect l="-1471" r="-10294" b="-2456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Equation"/>
                <p:cNvSpPr txBox="1"/>
                <p:nvPr/>
              </p:nvSpPr>
              <p:spPr>
                <a:xfrm>
                  <a:off x="888339" y="2476"/>
                  <a:ext cx="439117" cy="346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7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39" y="2476"/>
                  <a:ext cx="439117" cy="346936"/>
                </a:xfrm>
                <a:prstGeom prst="rect">
                  <a:avLst/>
                </a:prstGeom>
                <a:blipFill>
                  <a:blip r:embed="rId6"/>
                  <a:stretch>
                    <a:fillRect r="-4167" b="-2456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Equation"/>
                <p:cNvSpPr txBox="1"/>
                <p:nvPr/>
              </p:nvSpPr>
              <p:spPr>
                <a:xfrm>
                  <a:off x="569993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7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993" y="119162"/>
                  <a:ext cx="194819" cy="88164"/>
                </a:xfrm>
                <a:prstGeom prst="rect">
                  <a:avLst/>
                </a:prstGeom>
                <a:blipFill>
                  <a:blip r:embed="rId7"/>
                  <a:stretch>
                    <a:fillRect r="-16129" b="-20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Equation"/>
                <p:cNvSpPr txBox="1"/>
                <p:nvPr/>
              </p:nvSpPr>
              <p:spPr>
                <a:xfrm>
                  <a:off x="14758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7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856" y="55662"/>
                  <a:ext cx="194489" cy="194488"/>
                </a:xfrm>
                <a:prstGeom prst="rect">
                  <a:avLst/>
                </a:prstGeom>
                <a:blipFill>
                  <a:blip r:embed="rId8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Equation"/>
                <p:cNvSpPr txBox="1"/>
                <p:nvPr/>
              </p:nvSpPr>
              <p:spPr>
                <a:xfrm>
                  <a:off x="1862632" y="12585"/>
                  <a:ext cx="3375286" cy="3568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7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2632" y="12585"/>
                  <a:ext cx="3375286" cy="356842"/>
                </a:xfrm>
                <a:prstGeom prst="rect">
                  <a:avLst/>
                </a:prstGeom>
                <a:blipFill>
                  <a:blip r:embed="rId9"/>
                  <a:stretch>
                    <a:fillRect r="-12297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grpSp>
        <p:nvGrpSpPr>
          <p:cNvPr id="383" name="Group"/>
          <p:cNvGrpSpPr/>
          <p:nvPr/>
        </p:nvGrpSpPr>
        <p:grpSpPr>
          <a:xfrm>
            <a:off x="5124456" y="7870765"/>
            <a:ext cx="329584" cy="758529"/>
            <a:chOff x="0" y="0"/>
            <a:chExt cx="329582" cy="758528"/>
          </a:xfrm>
        </p:grpSpPr>
        <p:sp>
          <p:nvSpPr>
            <p:cNvPr id="381" name="Line"/>
            <p:cNvSpPr/>
            <p:nvPr/>
          </p:nvSpPr>
          <p:spPr>
            <a:xfrm flipV="1">
              <a:off x="-1" y="-1"/>
              <a:ext cx="2" cy="758530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i"/>
            <p:cNvSpPr txBox="1"/>
            <p:nvPr/>
          </p:nvSpPr>
          <p:spPr>
            <a:xfrm>
              <a:off x="144713" y="187809"/>
              <a:ext cx="18487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</a:p>
          </p:txBody>
        </p:sp>
      </p:grpSp>
      <p:sp>
        <p:nvSpPr>
          <p:cNvPr id="38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graphicFrame>
        <p:nvGraphicFramePr>
          <p:cNvPr id="385" name="Table"/>
          <p:cNvGraphicFramePr/>
          <p:nvPr/>
        </p:nvGraphicFramePr>
        <p:xfrm>
          <a:off x="665861" y="4351432"/>
          <a:ext cx="4185336" cy="4271508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697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93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6.25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chemeClr val="accent5">
                        <a:lumOff val="-807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28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6" name="Table"/>
          <p:cNvGraphicFramePr/>
          <p:nvPr/>
        </p:nvGraphicFramePr>
        <p:xfrm>
          <a:off x="6473051" y="4345082"/>
          <a:ext cx="4200552" cy="4284208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700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080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13.75</a:t>
                      </a:r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B w="12700">
                      <a:solidFill>
                        <a:srgbClr val="FFFFFF"/>
                      </a:solidFill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804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13.5</a:t>
                      </a:r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T w="12700">
                      <a:solidFill>
                        <a:srgbClr val="FFFFFF"/>
                      </a:solidFill>
                    </a:lnT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9.5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chemeClr val="accent1">
                        <a:satOff val="-36923"/>
                        <a:lumOff val="1544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600" b="1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solidFill>
                      <a:schemeClr val="accent6">
                        <a:lumOff val="-8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535353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2.25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0.75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3.25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5.5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indent="2286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0.25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0.5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4.5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13.5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17.5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/>
                      <a:r>
                        <a:rPr sz="1600">
                          <a:solidFill>
                            <a:srgbClr val="A7A7A7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17.5</a:t>
                      </a:r>
                    </a:p>
                  </a:txBody>
                  <a:tcPr marL="0" marR="0" marT="0" marB="0" anchor="ctr" horzOverflow="overflow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89" name="Group"/>
          <p:cNvGrpSpPr/>
          <p:nvPr/>
        </p:nvGrpSpPr>
        <p:grpSpPr>
          <a:xfrm>
            <a:off x="734626" y="3856485"/>
            <a:ext cx="896418" cy="382911"/>
            <a:chOff x="0" y="0"/>
            <a:chExt cx="896417" cy="382909"/>
          </a:xfrm>
        </p:grpSpPr>
        <p:sp>
          <p:nvSpPr>
            <p:cNvPr id="387" name="Line"/>
            <p:cNvSpPr/>
            <p:nvPr/>
          </p:nvSpPr>
          <p:spPr>
            <a:xfrm>
              <a:off x="0" y="191454"/>
              <a:ext cx="618363" cy="1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j"/>
            <p:cNvSpPr txBox="1"/>
            <p:nvPr/>
          </p:nvSpPr>
          <p:spPr>
            <a:xfrm>
              <a:off x="711548" y="0"/>
              <a:ext cx="18487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000"/>
                </a:spcBef>
                <a:buClr>
                  <a:srgbClr val="A7A7A7"/>
                </a:buClr>
                <a:defRPr sz="2000" b="1" i="1">
                  <a:solidFill>
                    <a:srgbClr val="535353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 i="0">
                  <a:latin typeface="+mn-lt"/>
                  <a:ea typeface="+mn-ea"/>
                  <a:cs typeface="+mn-cs"/>
                  <a:sym typeface="Helvetica Neue"/>
                </a:defRPr>
              </a:pPr>
              <a:r>
                <a:rPr b="1" i="1"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Equation"/>
              <p:cNvSpPr txBox="1"/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9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788" y="4371855"/>
                <a:ext cx="369177" cy="340539"/>
              </a:xfrm>
              <a:prstGeom prst="rect">
                <a:avLst/>
              </a:prstGeom>
              <a:blipFill>
                <a:blip r:embed="rId3"/>
                <a:stretch>
                  <a:fillRect b="-5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" name="Equation"/>
              <p:cNvSpPr txBox="1"/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sz="4100"/>
              </a:p>
            </p:txBody>
          </p:sp>
        </mc:Choice>
        <mc:Fallback xmlns="">
          <p:sp>
            <p:nvSpPr>
              <p:cNvPr id="39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748" y="4371855"/>
                <a:ext cx="320752" cy="348349"/>
              </a:xfrm>
              <a:prstGeom prst="rect">
                <a:avLst/>
              </a:prstGeom>
              <a:blipFill>
                <a:blip r:embed="rId4"/>
                <a:stretch>
                  <a:fillRect l="-1923" b="-4736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2" name="Shape 126"/>
          <p:cNvSpPr txBox="1"/>
          <p:nvPr/>
        </p:nvSpPr>
        <p:spPr>
          <a:xfrm>
            <a:off x="6260101" y="383886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Else</a:t>
            </a:r>
          </a:p>
        </p:txBody>
      </p:sp>
      <p:grpSp>
        <p:nvGrpSpPr>
          <p:cNvPr id="398" name="Group"/>
          <p:cNvGrpSpPr/>
          <p:nvPr/>
        </p:nvGrpSpPr>
        <p:grpSpPr>
          <a:xfrm>
            <a:off x="5785205" y="1369732"/>
            <a:ext cx="5237918" cy="369427"/>
            <a:chOff x="0" y="0"/>
            <a:chExt cx="5237917" cy="369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Equation"/>
                <p:cNvSpPr txBox="1"/>
                <p:nvPr/>
              </p:nvSpPr>
              <p:spPr>
                <a:xfrm>
                  <a:off x="0" y="0"/>
                  <a:ext cx="416663" cy="351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5F327C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5F327C"/>
                    </a:solidFill>
                  </a:endParaRPr>
                </a:p>
              </p:txBody>
            </p:sp>
          </mc:Choice>
          <mc:Fallback xmlns="">
            <p:sp>
              <p:nvSpPr>
                <p:cNvPr id="39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16663" cy="351888"/>
                </a:xfrm>
                <a:prstGeom prst="rect">
                  <a:avLst/>
                </a:prstGeom>
                <a:blipFill>
                  <a:blip r:embed="rId5"/>
                  <a:stretch>
                    <a:fillRect l="-1471" r="-10294" b="-2456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Equation"/>
                <p:cNvSpPr txBox="1"/>
                <p:nvPr/>
              </p:nvSpPr>
              <p:spPr>
                <a:xfrm>
                  <a:off x="888339" y="2476"/>
                  <a:ext cx="439117" cy="3469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A01D04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sz="2600">
                    <a:solidFill>
                      <a:srgbClr val="A01E05"/>
                    </a:solidFill>
                  </a:endParaRPr>
                </a:p>
              </p:txBody>
            </p:sp>
          </mc:Choice>
          <mc:Fallback xmlns="">
            <p:sp>
              <p:nvSpPr>
                <p:cNvPr id="39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39" y="2476"/>
                  <a:ext cx="439117" cy="346936"/>
                </a:xfrm>
                <a:prstGeom prst="rect">
                  <a:avLst/>
                </a:prstGeom>
                <a:blipFill>
                  <a:blip r:embed="rId6"/>
                  <a:stretch>
                    <a:fillRect r="-4167" b="-2456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Equation"/>
                <p:cNvSpPr txBox="1"/>
                <p:nvPr/>
              </p:nvSpPr>
              <p:spPr>
                <a:xfrm>
                  <a:off x="569993" y="119162"/>
                  <a:ext cx="194819" cy="881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9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993" y="119162"/>
                  <a:ext cx="194819" cy="88164"/>
                </a:xfrm>
                <a:prstGeom prst="rect">
                  <a:avLst/>
                </a:prstGeom>
                <a:blipFill>
                  <a:blip r:embed="rId7"/>
                  <a:stretch>
                    <a:fillRect r="-16129" b="-20666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Equation"/>
                <p:cNvSpPr txBox="1"/>
                <p:nvPr/>
              </p:nvSpPr>
              <p:spPr>
                <a:xfrm>
                  <a:off x="1475856" y="55662"/>
                  <a:ext cx="194489" cy="1944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2600">
                    <a:solidFill>
                      <a:srgbClr val="535353"/>
                    </a:solidFill>
                  </a:endParaRPr>
                </a:p>
              </p:txBody>
            </p:sp>
          </mc:Choice>
          <mc:Fallback xmlns="">
            <p:sp>
              <p:nvSpPr>
                <p:cNvPr id="39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856" y="55662"/>
                  <a:ext cx="194489" cy="194488"/>
                </a:xfrm>
                <a:prstGeom prst="rect">
                  <a:avLst/>
                </a:prstGeom>
                <a:blipFill>
                  <a:blip r:embed="rId8"/>
                  <a:stretch>
                    <a:fillRect r="-15625" b="-71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Equation"/>
                <p:cNvSpPr txBox="1"/>
                <p:nvPr/>
              </p:nvSpPr>
              <p:spPr>
                <a:xfrm>
                  <a:off x="1862632" y="12585"/>
                  <a:ext cx="3375286" cy="3568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sz="2600" i="1">
                                <a:solidFill>
                                  <a:srgbClr val="428BC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2600" i="1">
                            <a:solidFill>
                              <a:srgbClr val="428BC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2600">
                    <a:solidFill>
                      <a:srgbClr val="428CD0"/>
                    </a:solidFill>
                  </a:endParaRPr>
                </a:p>
              </p:txBody>
            </p:sp>
          </mc:Choice>
          <mc:Fallback xmlns="">
            <p:sp>
              <p:nvSpPr>
                <p:cNvPr id="39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2632" y="12585"/>
                  <a:ext cx="3375286" cy="356842"/>
                </a:xfrm>
                <a:prstGeom prst="rect">
                  <a:avLst/>
                </a:prstGeom>
                <a:blipFill>
                  <a:blip r:embed="rId9"/>
                  <a:stretch>
                    <a:fillRect r="-12297" b="-2241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403" name="Shape 126"/>
          <p:cNvSpPr txBox="1"/>
          <p:nvPr/>
        </p:nvSpPr>
        <p:spPr>
          <a:xfrm>
            <a:off x="6260101" y="406400"/>
            <a:ext cx="5060555" cy="1199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Name the accumulated cost matrix as </a:t>
            </a:r>
            <a:r>
              <a:rPr sz="2200" dirty="0" err="1">
                <a:solidFill>
                  <a:schemeClr val="accent1"/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acuCost</a:t>
            </a:r>
            <a:r>
              <a:rPr dirty="0"/>
              <a:t>. It has the same shape as </a:t>
            </a:r>
            <a:r>
              <a:rPr sz="2200" dirty="0" err="1">
                <a:solidFill>
                  <a:schemeClr val="accent1"/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dists</a:t>
            </a:r>
            <a:r>
              <a:rPr dirty="0"/>
              <a:t>.</a:t>
            </a:r>
          </a:p>
        </p:txBody>
      </p:sp>
      <p:sp>
        <p:nvSpPr>
          <p:cNvPr id="404" name="&gt; acuCost     = np.zeros(dists.shape)…"/>
          <p:cNvSpPr txBox="1"/>
          <p:nvPr/>
        </p:nvSpPr>
        <p:spPr>
          <a:xfrm>
            <a:off x="4062948" y="2417737"/>
            <a:ext cx="8364469" cy="5739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np.zeros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dists.shape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,dists.shape[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]):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,j]+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,dists.shape[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]):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[i-1,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,dists.shape[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range(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,dists.shape[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  = min(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])+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pltDistances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acuCost,clrmap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'Reds'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Equation"/>
              <p:cNvSpPr txBox="1"/>
              <p:nvPr/>
            </p:nvSpPr>
            <p:spPr>
              <a:xfrm>
                <a:off x="1520183" y="2850100"/>
                <a:ext cx="992035" cy="23290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183" y="2850100"/>
                <a:ext cx="992035" cy="232903"/>
              </a:xfrm>
              <a:prstGeom prst="rect">
                <a:avLst/>
              </a:prstGeom>
              <a:blipFill>
                <a:blip r:embed="rId3"/>
                <a:stretch>
                  <a:fillRect l="-7975" r="-12883" b="-3947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Equation"/>
              <p:cNvSpPr txBox="1"/>
              <p:nvPr/>
            </p:nvSpPr>
            <p:spPr>
              <a:xfrm>
                <a:off x="1501495" y="3489509"/>
                <a:ext cx="1811339" cy="25715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sz="1900"/>
              </a:p>
            </p:txBody>
          </p:sp>
        </mc:Choice>
        <mc:Fallback xmlns="">
          <p:sp>
            <p:nvSpPr>
              <p:cNvPr id="40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495" y="3489509"/>
                <a:ext cx="1811339" cy="257150"/>
              </a:xfrm>
              <a:prstGeom prst="rect">
                <a:avLst/>
              </a:prstGeom>
              <a:blipFill>
                <a:blip r:embed="rId4"/>
                <a:stretch>
                  <a:fillRect l="-4714" r="-13468" b="-534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Equation"/>
              <p:cNvSpPr txBox="1"/>
              <p:nvPr/>
            </p:nvSpPr>
            <p:spPr>
              <a:xfrm>
                <a:off x="1501495" y="4405305"/>
                <a:ext cx="1811340" cy="25369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</m:oMath>
                  </m:oMathPara>
                </a14:m>
                <a:endParaRPr sz="2000"/>
              </a:p>
            </p:txBody>
          </p:sp>
        </mc:Choice>
        <mc:Fallback xmlns="">
          <p:sp>
            <p:nvSpPr>
              <p:cNvPr id="40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495" y="4405305"/>
                <a:ext cx="1811340" cy="253694"/>
              </a:xfrm>
              <a:prstGeom prst="rect">
                <a:avLst/>
              </a:prstGeom>
              <a:blipFill>
                <a:blip r:embed="rId5"/>
                <a:stretch>
                  <a:fillRect l="-4714" r="-16498" b="-4634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Equation"/>
              <p:cNvSpPr txBox="1"/>
              <p:nvPr/>
            </p:nvSpPr>
            <p:spPr>
              <a:xfrm>
                <a:off x="1529102" y="6682727"/>
                <a:ext cx="3506411" cy="24704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102" y="6682727"/>
                <a:ext cx="3506411" cy="247045"/>
              </a:xfrm>
              <a:prstGeom prst="rect">
                <a:avLst/>
              </a:prstGeom>
              <a:blipFill>
                <a:blip r:embed="rId6"/>
                <a:stretch>
                  <a:fillRect l="-2435" r="-14261" b="-5122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first row"/>
          <p:cNvSpPr txBox="1"/>
          <p:nvPr/>
        </p:nvSpPr>
        <p:spPr>
          <a:xfrm>
            <a:off x="1303955" y="3778080"/>
            <a:ext cx="1012712" cy="349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700" i="1">
                <a:solidFill>
                  <a:srgbClr val="A7A7A7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first row</a:t>
            </a:r>
          </a:p>
        </p:txBody>
      </p:sp>
      <p:sp>
        <p:nvSpPr>
          <p:cNvPr id="410" name="first column"/>
          <p:cNvSpPr txBox="1"/>
          <p:nvPr/>
        </p:nvSpPr>
        <p:spPr>
          <a:xfrm>
            <a:off x="1303955" y="4702022"/>
            <a:ext cx="1577574" cy="349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700" i="1">
                <a:solidFill>
                  <a:srgbClr val="A7A7A7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first column</a:t>
            </a:r>
          </a:p>
        </p:txBody>
      </p:sp>
      <p:sp>
        <p:nvSpPr>
          <p:cNvPr id="41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20666" y="1766254"/>
            <a:ext cx="119067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Codes to determine the accumulated cost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9126070" y="2480084"/>
            <a:ext cx="37173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starts from 1 because </a:t>
            </a:r>
            <a:r>
              <a:rPr lang="en-US" sz="2000" b="1" dirty="0" err="1">
                <a:solidFill>
                  <a:srgbClr val="FF0000"/>
                </a:solidFill>
              </a:rPr>
              <a:t>acuCost</a:t>
            </a:r>
            <a:r>
              <a:rPr lang="en-US" sz="2000" b="1" dirty="0">
                <a:solidFill>
                  <a:srgbClr val="FF0000"/>
                </a:solidFill>
              </a:rPr>
              <a:t>[0,0] has been filled with </a:t>
            </a:r>
            <a:r>
              <a:rPr lang="en-US" sz="2000" b="1" dirty="0" err="1">
                <a:solidFill>
                  <a:srgbClr val="FF0000"/>
                </a:solidFill>
              </a:rPr>
              <a:t>dists</a:t>
            </a:r>
            <a:r>
              <a:rPr lang="en-US" sz="2000" b="1" dirty="0">
                <a:solidFill>
                  <a:srgbClr val="FF0000"/>
                </a:solidFill>
              </a:rPr>
              <a:t>[0,0]</a:t>
            </a:r>
            <a:endParaRPr lang="en-SG" sz="20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741459" y="3045668"/>
            <a:ext cx="2384612" cy="443841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2. Compute accumulated cost matrix</a:t>
            </a:r>
          </a:p>
        </p:txBody>
      </p:sp>
      <p:sp>
        <p:nvSpPr>
          <p:cNvPr id="416" name="Shape 126"/>
          <p:cNvSpPr txBox="1"/>
          <p:nvPr/>
        </p:nvSpPr>
        <p:spPr>
          <a:xfrm>
            <a:off x="6260101" y="406400"/>
            <a:ext cx="5060555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Can you see the warping / optimal path?</a:t>
            </a:r>
          </a:p>
        </p:txBody>
      </p:sp>
      <p:pic>
        <p:nvPicPr>
          <p:cNvPr id="417" name="Screenshot 2019-02-28 at 3.44.04 PM.png" descr="Screenshot 2019-02-28 at 3.44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46" y="3105760"/>
            <a:ext cx="5294114" cy="5433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Screenshot 2019-03-01 at 10.05.08 AM.png" descr="Screenshot 2019-03-01 at 10.05.08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002" y="3168010"/>
            <a:ext cx="5283201" cy="5384801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acuCost"/>
          <p:cNvSpPr txBox="1"/>
          <p:nvPr/>
        </p:nvSpPr>
        <p:spPr>
          <a:xfrm>
            <a:off x="6341797" y="2908315"/>
            <a:ext cx="118474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20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enlo Regular"/>
              </a:rPr>
              <a:t>acuCost</a:t>
            </a:r>
          </a:p>
        </p:txBody>
      </p:sp>
      <p:sp>
        <p:nvSpPr>
          <p:cNvPr id="420" name="dists"/>
          <p:cNvSpPr txBox="1"/>
          <p:nvPr/>
        </p:nvSpPr>
        <p:spPr>
          <a:xfrm>
            <a:off x="576871" y="2890943"/>
            <a:ext cx="952184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22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22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enlo Regular"/>
              </a:rPr>
              <a:t>dists</a:t>
            </a:r>
            <a:endParaRPr sz="22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  <a:sym typeface="Menlo Regular"/>
            </a:endParaRPr>
          </a:p>
        </p:txBody>
      </p:sp>
      <p:sp>
        <p:nvSpPr>
          <p:cNvPr id="42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26" name="Shape 126"/>
          <p:cNvSpPr txBox="1"/>
          <p:nvPr/>
        </p:nvSpPr>
        <p:spPr>
          <a:xfrm>
            <a:off x="6260101" y="406400"/>
            <a:ext cx="5060555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Name the warping path as </a:t>
            </a:r>
            <a:r>
              <a:rPr sz="2200" dirty="0">
                <a:solidFill>
                  <a:schemeClr val="accent1"/>
                </a:solidFill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path</a:t>
            </a:r>
            <a:r>
              <a:rPr dirty="0"/>
              <a:t>.</a:t>
            </a:r>
          </a:p>
        </p:txBody>
      </p:sp>
      <p:pic>
        <p:nvPicPr>
          <p:cNvPr id="427" name="Screenshot 2019-03-01 at 10.05.08 AM.png" descr="Screenshot 2019-03-01 at 10.05.08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0" y="4645213"/>
            <a:ext cx="4047416" cy="4125251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&gt; i       = len(y)-1…"/>
          <p:cNvSpPr txBox="1"/>
          <p:nvPr/>
        </p:nvSpPr>
        <p:spPr>
          <a:xfrm>
            <a:off x="4844519" y="1332818"/>
            <a:ext cx="7735408" cy="7401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=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(y)-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j       =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(x)-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path    = [[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j,i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]]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(j &gt; 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j   = 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j==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= i-1  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                   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 ==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= 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== min(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,j],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[i,j-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j   = 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= i-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j   = j-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path.append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j,i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path.append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429" name="it starts from here"/>
          <p:cNvSpPr txBox="1"/>
          <p:nvPr/>
        </p:nvSpPr>
        <p:spPr>
          <a:xfrm>
            <a:off x="2212218" y="3628430"/>
            <a:ext cx="1367904" cy="561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ts val="1800"/>
              </a:lnSpc>
              <a:spcBef>
                <a:spcPts val="6000"/>
              </a:spcBef>
              <a:defRPr sz="18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it starts from here</a:t>
            </a:r>
          </a:p>
        </p:txBody>
      </p:sp>
      <p:sp>
        <p:nvSpPr>
          <p:cNvPr id="430" name="Line"/>
          <p:cNvSpPr/>
          <p:nvPr/>
        </p:nvSpPr>
        <p:spPr>
          <a:xfrm>
            <a:off x="3421914" y="4248568"/>
            <a:ext cx="1" cy="765798"/>
          </a:xfrm>
          <a:prstGeom prst="line">
            <a:avLst/>
          </a:prstGeom>
          <a:ln w="25400">
            <a:solidFill>
              <a:srgbClr val="A7A7A7"/>
            </a:solidFill>
            <a:tailEnd type="oval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3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550908" y="1191809"/>
            <a:ext cx="3740727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 hangingPunct="1">
              <a:lnSpc>
                <a:spcPct val="117999"/>
              </a:lnSpc>
              <a:defRPr/>
            </a:pPr>
            <a:r>
              <a:rPr lang="en-US" sz="2400" b="1" dirty="0">
                <a:solidFill>
                  <a:srgbClr val="FF0000"/>
                </a:solidFill>
                <a:sym typeface="Helvetica Neue"/>
              </a:rPr>
              <a:t>a list; j stands for x axis, </a:t>
            </a:r>
            <a:r>
              <a:rPr lang="en-US" sz="2400" b="1" dirty="0" err="1">
                <a:solidFill>
                  <a:srgbClr val="FF0000"/>
                </a:solidFill>
                <a:sym typeface="Helvetica Neue"/>
              </a:rPr>
              <a:t>i</a:t>
            </a:r>
            <a:r>
              <a:rPr lang="en-US" sz="2400" b="1" dirty="0">
                <a:solidFill>
                  <a:srgbClr val="FF0000"/>
                </a:solidFill>
                <a:sym typeface="Helvetica Neue"/>
              </a:rPr>
              <a:t> stands for y axis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602072" y="1673800"/>
            <a:ext cx="1110151" cy="481991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ectangle 4"/>
          <p:cNvSpPr/>
          <p:nvPr/>
        </p:nvSpPr>
        <p:spPr>
          <a:xfrm>
            <a:off x="8550908" y="2767443"/>
            <a:ext cx="40362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sym typeface="Helvetica Neue"/>
              </a:rPr>
              <a:t>Wrapping process: Compare 3 neighboring squares and find the minimum cost square</a:t>
            </a:r>
            <a:endParaRPr lang="en-SG" sz="2000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0569016" y="3783106"/>
            <a:ext cx="0" cy="611652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34" name="Shape 126"/>
          <p:cNvSpPr txBox="1"/>
          <p:nvPr/>
        </p:nvSpPr>
        <p:spPr>
          <a:xfrm>
            <a:off x="6260101" y="406400"/>
            <a:ext cx="559379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Create a function that plots the path</a:t>
            </a:r>
          </a:p>
        </p:txBody>
      </p:sp>
      <p:sp>
        <p:nvSpPr>
          <p:cNvPr id="435" name="&gt; def pltCostAndPath(acuCost,path,xlab=&quot;X&quot;,ylab=&quot;Y&quot;,clrmap=&quot;viridis&quot;):…"/>
          <p:cNvSpPr txBox="1"/>
          <p:nvPr/>
        </p:nvSpPr>
        <p:spPr>
          <a:xfrm>
            <a:off x="200753" y="1663700"/>
            <a:ext cx="9880910" cy="4409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pltCostAndPath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acuCost,path,xlab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"X"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"Y"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clrmap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viridis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= 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for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in path]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= 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[1] for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in path]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pltDistances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px,py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pltCostAndPath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acuCost,path,clrmap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'Reds'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436" name="Screenshot 2019-03-01 at 11.07.50 AM.png" descr="Screenshot 2019-03-01 at 11.07.50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850" y="3487263"/>
            <a:ext cx="5295901" cy="5283201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6366338"/>
            <a:ext cx="63544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Now we want to plot the path;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this code function helps us draw the path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42" name="Shape 126"/>
          <p:cNvSpPr txBox="1"/>
          <p:nvPr/>
        </p:nvSpPr>
        <p:spPr>
          <a:xfrm>
            <a:off x="6260101" y="406400"/>
            <a:ext cx="5593796" cy="1198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Calculate the cost based on </a:t>
            </a:r>
            <a:r>
              <a:rPr sz="2200" b="1" dirty="0" err="1">
                <a:latin typeface="Courier New" panose="02070309020205020404" pitchFamily="49" charset="0"/>
                <a:ea typeface="Menlo Regular"/>
                <a:cs typeface="Courier New" panose="02070309020205020404" pitchFamily="49" charset="0"/>
                <a:sym typeface="Menlo Regular"/>
              </a:rPr>
              <a:t>dists</a:t>
            </a:r>
            <a:r>
              <a:rPr dirty="0"/>
              <a:t>, which can be considered as a measure for similarity / distance</a:t>
            </a:r>
          </a:p>
        </p:txBody>
      </p:sp>
      <p:sp>
        <p:nvSpPr>
          <p:cNvPr id="443" name="&gt; cost        = 0…"/>
          <p:cNvSpPr txBox="1"/>
          <p:nvPr/>
        </p:nvSpPr>
        <p:spPr>
          <a:xfrm>
            <a:off x="6310588" y="1860387"/>
            <a:ext cx="4959581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cost        = 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j,i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path: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cost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cost+dists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                                     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cost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2.5</a:t>
            </a:r>
          </a:p>
        </p:txBody>
      </p:sp>
      <p:pic>
        <p:nvPicPr>
          <p:cNvPr id="444" name="Screenshot 2019-02-28 at 3.44.04 PM.png" descr="Screenshot 2019-02-28 at 3.44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724" y="4092475"/>
            <a:ext cx="4465161" cy="4582386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dists"/>
          <p:cNvSpPr txBox="1"/>
          <p:nvPr/>
        </p:nvSpPr>
        <p:spPr>
          <a:xfrm>
            <a:off x="6455753" y="3899169"/>
            <a:ext cx="84067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9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rPr>
              <a:t>dists</a:t>
            </a:r>
          </a:p>
        </p:txBody>
      </p:sp>
      <p:sp>
        <p:nvSpPr>
          <p:cNvPr id="446" name="acuCost"/>
          <p:cNvSpPr txBox="1"/>
          <p:nvPr/>
        </p:nvSpPr>
        <p:spPr>
          <a:xfrm>
            <a:off x="574309" y="3886469"/>
            <a:ext cx="113122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9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rPr>
              <a:t>acuCost</a:t>
            </a:r>
          </a:p>
        </p:txBody>
      </p:sp>
      <p:pic>
        <p:nvPicPr>
          <p:cNvPr id="447" name="Screenshot 2019-03-01 at 11.07.50 AM.png" descr="Screenshot 2019-03-01 at 11.07.50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73" y="4283530"/>
            <a:ext cx="4465162" cy="4454454"/>
          </a:xfrm>
          <a:prstGeom prst="rect">
            <a:avLst/>
          </a:prstGeom>
          <a:ln w="12700">
            <a:miter lim="400000"/>
          </a:ln>
        </p:spPr>
      </p:pic>
      <p:sp>
        <p:nvSpPr>
          <p:cNvPr id="44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1560004"/>
            <a:ext cx="48017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This cost parameter is also known as the wrapping cost</a:t>
            </a:r>
            <a:endParaRPr lang="en-SG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51" name="Shape 126"/>
          <p:cNvSpPr txBox="1"/>
          <p:nvPr/>
        </p:nvSpPr>
        <p:spPr>
          <a:xfrm>
            <a:off x="6260101" y="406400"/>
            <a:ext cx="559379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implication</a:t>
            </a:r>
          </a:p>
        </p:txBody>
      </p:sp>
      <p:sp>
        <p:nvSpPr>
          <p:cNvPr id="452" name="acuCost"/>
          <p:cNvSpPr txBox="1"/>
          <p:nvPr/>
        </p:nvSpPr>
        <p:spPr>
          <a:xfrm>
            <a:off x="574309" y="3879480"/>
            <a:ext cx="1123706" cy="394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9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enlo Regular"/>
              </a:rPr>
              <a:t>acuCost</a:t>
            </a:r>
            <a:endParaRPr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  <a:sym typeface="Menlo Regular"/>
            </a:endParaRPr>
          </a:p>
        </p:txBody>
      </p:sp>
      <p:pic>
        <p:nvPicPr>
          <p:cNvPr id="453" name="Screenshot 2019-03-01 at 11.07.50 AM.png" descr="Screenshot 2019-03-01 at 11.07.50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3" y="4283530"/>
            <a:ext cx="4465162" cy="4454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Screenshot 2019-02-28 at 3.08.44 PM.png" descr="Screenshot 2019-02-28 at 3.08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301002"/>
            <a:ext cx="5715780" cy="4246621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6428" y="1689749"/>
            <a:ext cx="106273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illustrate the mapping between the 2 signals (Right) based on the wrapping path in the Cost Matrix (Left)?</a:t>
            </a:r>
          </a:p>
        </p:txBody>
      </p:sp>
    </p:spTree>
    <p:extLst>
      <p:ext uri="{BB962C8B-B14F-4D97-AF65-F5344CB8AC3E}">
        <p14:creationId xmlns:p14="http://schemas.microsoft.com/office/powerpoint/2010/main" val="41986595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51" name="Shape 126"/>
          <p:cNvSpPr txBox="1"/>
          <p:nvPr/>
        </p:nvSpPr>
        <p:spPr>
          <a:xfrm>
            <a:off x="6260101" y="406400"/>
            <a:ext cx="559379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The implication</a:t>
            </a:r>
          </a:p>
        </p:txBody>
      </p:sp>
      <p:sp>
        <p:nvSpPr>
          <p:cNvPr id="452" name="acuCost"/>
          <p:cNvSpPr txBox="1"/>
          <p:nvPr/>
        </p:nvSpPr>
        <p:spPr>
          <a:xfrm>
            <a:off x="574309" y="3879480"/>
            <a:ext cx="1123706" cy="394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900">
                <a:solidFill>
                  <a:schemeClr val="accent1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>
              <a:defRPr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enlo Regular"/>
              </a:rPr>
              <a:t>acuCost</a:t>
            </a:r>
            <a:endParaRPr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  <a:sym typeface="Menlo Regular"/>
            </a:endParaRPr>
          </a:p>
        </p:txBody>
      </p:sp>
      <p:pic>
        <p:nvPicPr>
          <p:cNvPr id="453" name="Screenshot 2019-03-01 at 11.07.50 AM.png" descr="Screenshot 2019-03-01 at 11.07.50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3" y="4283530"/>
            <a:ext cx="4465162" cy="4454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Screenshot 2019-02-28 at 3.08.44 PM.png" descr="Screenshot 2019-02-28 at 3.08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301002"/>
            <a:ext cx="5715780" cy="4246621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188727" y="1421057"/>
            <a:ext cx="1062734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How to plot a line that shows the correspondence between point 5 in X and point 6 in 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51199" y="2888415"/>
            <a:ext cx="65024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Ans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  <a:r>
              <a:rPr lang="en-US" sz="3200" b="1" dirty="0">
                <a:solidFill>
                  <a:srgbClr val="FF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plt.plot</a:t>
            </a:r>
            <a:r>
              <a:rPr lang="en-US" sz="3200" b="1" dirty="0">
                <a:solidFill>
                  <a:srgbClr val="FF0000"/>
                </a:solidFill>
                <a:latin typeface="Menlo Regular"/>
                <a:ea typeface="Menlo Regular"/>
                <a:cs typeface="Menlo Regular"/>
                <a:sym typeface="Menlo Regular"/>
              </a:rPr>
              <a:t>([5, 6], [X[5], Y[6]])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3. Search the optimal path</a:t>
            </a:r>
          </a:p>
        </p:txBody>
      </p:sp>
      <p:sp>
        <p:nvSpPr>
          <p:cNvPr id="460" name="Shape 126"/>
          <p:cNvSpPr txBox="1"/>
          <p:nvPr/>
        </p:nvSpPr>
        <p:spPr>
          <a:xfrm>
            <a:off x="6260101" y="406400"/>
            <a:ext cx="5460844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marL="127000" indent="-127000" algn="l">
              <a:spcBef>
                <a:spcPts val="4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Plot the mapping of points between two signals</a:t>
            </a:r>
          </a:p>
        </p:txBody>
      </p:sp>
      <p:sp>
        <p:nvSpPr>
          <p:cNvPr id="461" name="&gt; def pltWarp(s1,s2,path,xlab=&quot;idx&quot;,ylab=&quot;Value&quot;):…"/>
          <p:cNvSpPr txBox="1"/>
          <p:nvPr/>
        </p:nvSpPr>
        <p:spPr>
          <a:xfrm>
            <a:off x="147157" y="1741982"/>
            <a:ext cx="7123745" cy="7069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pltWarp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(s1,s2,path,xlab=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 err="1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"Value"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[idx1,idx2]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path: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([idx1,idx2],[s1[idx1],s2[idx2]],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color=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"C4"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linewidth=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(s1,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'o-'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color=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"C0"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(s2,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's-'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color=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"C1"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imgplt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pltWarp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x,y,path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462" name="Screenshot 2019-03-01 at 11.31.53 AM.png" descr="Screenshot 2019-03-01 at 11.31.5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292" y="4196447"/>
            <a:ext cx="5987215" cy="4574017"/>
          </a:xfrm>
          <a:prstGeom prst="rect">
            <a:avLst/>
          </a:prstGeom>
          <a:ln w="12700">
            <a:miter lim="400000"/>
          </a:ln>
        </p:spPr>
      </p:pic>
      <p:sp>
        <p:nvSpPr>
          <p:cNvPr id="463" name="Plot the connections between s1 and s2 (yellow lines)"/>
          <p:cNvSpPr txBox="1"/>
          <p:nvPr/>
        </p:nvSpPr>
        <p:spPr>
          <a:xfrm>
            <a:off x="7158972" y="2762471"/>
            <a:ext cx="2982124" cy="857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spcBef>
                <a:spcPts val="4000"/>
              </a:spcBef>
              <a:buClr>
                <a:srgbClr val="A7A7A7"/>
              </a:buClr>
              <a:defRPr sz="1700" i="1">
                <a:solidFill>
                  <a:srgbClr val="A7A7A7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Plot the connections between s1 and s2 (yellow lines)</a:t>
            </a:r>
          </a:p>
        </p:txBody>
      </p:sp>
      <p:sp>
        <p:nvSpPr>
          <p:cNvPr id="46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417470" y="2371590"/>
            <a:ext cx="8465127" cy="600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 hangingPunct="1">
              <a:lnSpc>
                <a:spcPct val="117999"/>
              </a:lnSpc>
              <a:defRPr/>
            </a:pPr>
            <a:r>
              <a:rPr lang="en-US" sz="2800" b="1" dirty="0">
                <a:solidFill>
                  <a:srgbClr val="FF0000"/>
                </a:solidFill>
                <a:sym typeface="Helvetica Neue"/>
              </a:rPr>
              <a:t>idx1 and idx2 are the interested time parameters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Dynamic Time Warping</a:t>
            </a:r>
          </a:p>
        </p:txBody>
      </p:sp>
      <p:pic>
        <p:nvPicPr>
          <p:cNvPr id="467" name="Screenshot 2019-03-01 at 11.31.53 AM.png" descr="Screenshot 2019-03-01 at 11.31.5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292" y="4572645"/>
            <a:ext cx="5311923" cy="405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8" name="Screenshot 2019-02-28 at 3.08.44 PM.png" descr="Screenshot 2019-02-28 at 3.08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891" y="394633"/>
            <a:ext cx="5120672" cy="3804476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Screenshot 2019-03-01 at 11.46.05 AM.png" descr="Screenshot 2019-03-01 at 11.46.05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52" y="4436727"/>
            <a:ext cx="5719523" cy="4154944"/>
          </a:xfrm>
          <a:prstGeom prst="rect">
            <a:avLst/>
          </a:prstGeom>
          <a:ln w="12700">
            <a:miter lim="400000"/>
          </a:ln>
        </p:spPr>
      </p:pic>
      <p:sp>
        <p:nvSpPr>
          <p:cNvPr id="472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Another example</a:t>
            </a:r>
          </a:p>
        </p:txBody>
      </p:sp>
      <p:sp>
        <p:nvSpPr>
          <p:cNvPr id="473" name="Shape 126"/>
          <p:cNvSpPr txBox="1"/>
          <p:nvPr/>
        </p:nvSpPr>
        <p:spPr>
          <a:xfrm>
            <a:off x="6260101" y="406400"/>
            <a:ext cx="506055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Define two signals as:</a:t>
            </a:r>
          </a:p>
        </p:txBody>
      </p:sp>
      <p:sp>
        <p:nvSpPr>
          <p:cNvPr id="474" name="Shape 126"/>
          <p:cNvSpPr txBox="1"/>
          <p:nvPr/>
        </p:nvSpPr>
        <p:spPr>
          <a:xfrm>
            <a:off x="6261100" y="2468586"/>
            <a:ext cx="50605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Plot the two signals</a:t>
            </a:r>
          </a:p>
        </p:txBody>
      </p:sp>
      <p:sp>
        <p:nvSpPr>
          <p:cNvPr id="475" name="&gt; plt.figure()…"/>
          <p:cNvSpPr txBox="1"/>
          <p:nvPr/>
        </p:nvSpPr>
        <p:spPr>
          <a:xfrm>
            <a:off x="6295365" y="3289098"/>
            <a:ext cx="4040125" cy="2747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dirty="0">
                <a:solidFill>
                  <a:srgbClr val="51515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(x,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color=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"C0"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label=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'x'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(y,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color=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"C1"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label=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'y'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76" name="&gt; x = np.sin(np.linspace(0,7.85,100))…"/>
          <p:cNvSpPr txBox="1"/>
          <p:nvPr/>
        </p:nvSpPr>
        <p:spPr>
          <a:xfrm>
            <a:off x="5726249" y="1145557"/>
            <a:ext cx="5331588" cy="753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np.sin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7.85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383A42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y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np.cos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np.linspace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7.85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47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1822106"/>
            <a:ext cx="48017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Another example with 2 different signals</a:t>
            </a:r>
            <a:endParaRPr lang="en-SG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Dynamic Time Warping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Another example</a:t>
            </a:r>
          </a:p>
        </p:txBody>
      </p:sp>
      <p:pic>
        <p:nvPicPr>
          <p:cNvPr id="480" name="Screenshot 2019-03-01 at 11.46.05 AM.png" descr="Screenshot 2019-03-01 at 11.46.05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855" y="420301"/>
            <a:ext cx="5311923" cy="385884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Screenshot 2019-03-01 at 11.54.46 AM.png" descr="Screenshot 2019-03-01 at 11.54.46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228" y="4478752"/>
            <a:ext cx="5597598" cy="4099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Screenshot 2019-03-01 at 12.00.43 PM.png" descr="Screenshot 2019-03-01 at 12.00.43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75" y="3874242"/>
            <a:ext cx="5311924" cy="4712050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Screenshot 2019-02-27 at 3.09.03 PM.png" descr="Screenshot 2019-02-27 at 3.09.03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5" y="3964732"/>
            <a:ext cx="5265845" cy="39024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Screenshot 2019-02-27 at 3.09.45 PM.png" descr="Screenshot 2019-02-27 at 3.09.45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53" y="3978294"/>
            <a:ext cx="5331384" cy="3902456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Shape 126"/>
          <p:cNvSpPr txBox="1"/>
          <p:nvPr/>
        </p:nvSpPr>
        <p:spPr>
          <a:xfrm>
            <a:off x="6261100" y="406400"/>
            <a:ext cx="5060554" cy="2328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Before we compute similarity, must segment individual heartbeat signal</a:t>
            </a:r>
          </a:p>
          <a:p>
            <a: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With signal segmented, perform DTW</a:t>
            </a:r>
          </a:p>
        </p:txBody>
      </p:sp>
      <p:sp>
        <p:nvSpPr>
          <p:cNvPr id="488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Back to the problem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How to start?</a:t>
            </a:r>
          </a:p>
        </p:txBody>
      </p:sp>
      <p:sp>
        <p:nvSpPr>
          <p:cNvPr id="489" name="Line"/>
          <p:cNvSpPr/>
          <p:nvPr/>
        </p:nvSpPr>
        <p:spPr>
          <a:xfrm flipV="1">
            <a:off x="862599" y="3421716"/>
            <a:ext cx="1" cy="1795684"/>
          </a:xfrm>
          <a:prstGeom prst="line">
            <a:avLst/>
          </a:prstGeom>
          <a:ln w="254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0" name="Line"/>
          <p:cNvSpPr/>
          <p:nvPr/>
        </p:nvSpPr>
        <p:spPr>
          <a:xfrm flipV="1">
            <a:off x="1220934" y="3421716"/>
            <a:ext cx="1" cy="767976"/>
          </a:xfrm>
          <a:prstGeom prst="line">
            <a:avLst/>
          </a:prstGeom>
          <a:ln w="254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1" name="Line"/>
          <p:cNvSpPr/>
          <p:nvPr/>
        </p:nvSpPr>
        <p:spPr>
          <a:xfrm flipH="1">
            <a:off x="848307" y="3370503"/>
            <a:ext cx="368504" cy="1"/>
          </a:xfrm>
          <a:prstGeom prst="line">
            <a:avLst/>
          </a:prstGeom>
          <a:ln w="12700">
            <a:solidFill>
              <a:srgbClr val="A7A7A7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2" name="15 points"/>
          <p:cNvSpPr txBox="1"/>
          <p:nvPr/>
        </p:nvSpPr>
        <p:spPr>
          <a:xfrm>
            <a:off x="1259925" y="3220593"/>
            <a:ext cx="852171" cy="29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14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15 points</a:t>
            </a:r>
          </a:p>
        </p:txBody>
      </p:sp>
      <p:sp>
        <p:nvSpPr>
          <p:cNvPr id="493" name="Line"/>
          <p:cNvSpPr/>
          <p:nvPr/>
        </p:nvSpPr>
        <p:spPr>
          <a:xfrm flipV="1">
            <a:off x="6621599" y="3456240"/>
            <a:ext cx="1" cy="3974561"/>
          </a:xfrm>
          <a:prstGeom prst="line">
            <a:avLst/>
          </a:prstGeom>
          <a:ln w="254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4" name="Line"/>
          <p:cNvSpPr/>
          <p:nvPr/>
        </p:nvSpPr>
        <p:spPr>
          <a:xfrm flipV="1">
            <a:off x="6959570" y="3466413"/>
            <a:ext cx="1" cy="888480"/>
          </a:xfrm>
          <a:prstGeom prst="line">
            <a:avLst/>
          </a:prstGeom>
          <a:ln w="254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5" name="Line"/>
          <p:cNvSpPr/>
          <p:nvPr/>
        </p:nvSpPr>
        <p:spPr>
          <a:xfrm flipH="1">
            <a:off x="6594507" y="3370503"/>
            <a:ext cx="368504" cy="1"/>
          </a:xfrm>
          <a:prstGeom prst="line">
            <a:avLst/>
          </a:prstGeom>
          <a:ln w="12700">
            <a:solidFill>
              <a:srgbClr val="A7A7A7"/>
            </a:solidFill>
            <a:miter lim="400000"/>
            <a:headEnd type="triangle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6" name="15 points"/>
          <p:cNvSpPr txBox="1"/>
          <p:nvPr/>
        </p:nvSpPr>
        <p:spPr>
          <a:xfrm>
            <a:off x="7006125" y="3220593"/>
            <a:ext cx="852171" cy="29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6000"/>
              </a:spcBef>
              <a:defRPr sz="14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15 points</a:t>
            </a:r>
          </a:p>
        </p:txBody>
      </p:sp>
      <p:sp>
        <p:nvSpPr>
          <p:cNvPr id="49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200" y="1283113"/>
            <a:ext cx="530535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sym typeface="Helvetica Neue"/>
              </a:rPr>
              <a:t>Use peak (i.e. </a:t>
            </a:r>
            <a:r>
              <a:rPr lang="en-US" sz="2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findpeak</a:t>
            </a:r>
            <a:r>
              <a:rPr lang="en-US" sz="2800" b="1" dirty="0">
                <a:solidFill>
                  <a:srgbClr val="FF0000"/>
                </a:solidFill>
                <a:sym typeface="Helvetica Neue"/>
              </a:rPr>
              <a:t>) to estimate start of each ECG heartbeat by shifting 15 points to left from peak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126"/>
          <p:cNvSpPr txBox="1"/>
          <p:nvPr/>
        </p:nvSpPr>
        <p:spPr>
          <a:xfrm>
            <a:off x="6261100" y="406400"/>
            <a:ext cx="506055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Load the data</a:t>
            </a:r>
          </a:p>
        </p:txBody>
      </p:sp>
      <p:sp>
        <p:nvSpPr>
          <p:cNvPr id="500" name="Shape 125"/>
          <p:cNvSpPr txBox="1"/>
          <p:nvPr/>
        </p:nvSpPr>
        <p:spPr>
          <a:xfrm>
            <a:off x="584200" y="393700"/>
            <a:ext cx="4801740" cy="803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Workshop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To start</a:t>
            </a:r>
          </a:p>
        </p:txBody>
      </p:sp>
      <p:sp>
        <p:nvSpPr>
          <p:cNvPr id="501" name="&gt; l2D     = pd.read_csv('ecg2D.csv',…"/>
          <p:cNvSpPr txBox="1"/>
          <p:nvPr/>
        </p:nvSpPr>
        <p:spPr>
          <a:xfrm>
            <a:off x="6333766" y="1017140"/>
            <a:ext cx="5193729" cy="1085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l2D     =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>
                <a:solidFill>
                  <a:srgbClr val="50A14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'ecg2D.csv'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header=</a:t>
            </a:r>
            <a:r>
              <a:rPr dirty="0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>
                <a:solidFill>
                  <a:schemeClr val="accent1">
                    <a:lumOff val="-7647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ECGs    = l2D[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].values</a:t>
            </a:r>
          </a:p>
        </p:txBody>
      </p:sp>
      <p:grpSp>
        <p:nvGrpSpPr>
          <p:cNvPr id="504" name="Group"/>
          <p:cNvGrpSpPr/>
          <p:nvPr/>
        </p:nvGrpSpPr>
        <p:grpSpPr>
          <a:xfrm>
            <a:off x="589000" y="5003175"/>
            <a:ext cx="6878330" cy="3754589"/>
            <a:chOff x="0" y="0"/>
            <a:chExt cx="6878330" cy="3754587"/>
          </a:xfrm>
        </p:grpSpPr>
        <p:pic>
          <p:nvPicPr>
            <p:cNvPr id="502" name="Screenshot 2019-03-01 at 1.46.11 PM.png" descr="Screenshot 2019-03-01 at 1.46.11 P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68" y="0"/>
              <a:ext cx="6865163" cy="19401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3" name="Screenshot 2019-03-01 at 1.46.58 PM.png" descr="Screenshot 2019-03-01 at 1.46.58 P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801948"/>
              <a:ext cx="6865162" cy="19526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05" name="Shape 126"/>
          <p:cNvSpPr txBox="1"/>
          <p:nvPr/>
        </p:nvSpPr>
        <p:spPr>
          <a:xfrm>
            <a:off x="6261100" y="2439816"/>
            <a:ext cx="5060554" cy="1566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127000" indent="-127000" algn="l">
              <a:spcBef>
                <a:spcPts val="60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Create a function with the below signature. The output is a list consists of all the ECG segments in a ECG signal</a:t>
            </a:r>
          </a:p>
        </p:txBody>
      </p:sp>
      <p:sp>
        <p:nvSpPr>
          <p:cNvPr id="506" name="def extractECG(ecg,pks,offset=15):"/>
          <p:cNvSpPr txBox="1"/>
          <p:nvPr/>
        </p:nvSpPr>
        <p:spPr>
          <a:xfrm>
            <a:off x="6549666" y="4258630"/>
            <a:ext cx="4918013" cy="42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127000" algn="l" defTabSz="457200">
              <a:lnSpc>
                <a:spcPct val="120000"/>
              </a:lnSpc>
              <a:defRPr sz="1800">
                <a:solidFill>
                  <a:srgbClr val="515151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 err="1">
                <a:solidFill>
                  <a:srgbClr val="A626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extractECG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ecg,pks,offset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dirty="0">
                <a:solidFill>
                  <a:srgbClr val="9868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</p:txBody>
      </p:sp>
      <p:sp>
        <p:nvSpPr>
          <p:cNvPr id="50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199" y="1571933"/>
            <a:ext cx="547594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Helvetica Neue"/>
              </a:rPr>
              <a:t>You need to complete a code function to chop (segment) each ECG heartbeat from the complete signal!</a:t>
            </a:r>
          </a:p>
        </p:txBody>
      </p:sp>
      <p:sp>
        <p:nvSpPr>
          <p:cNvPr id="3" name="Rectangle 2"/>
          <p:cNvSpPr/>
          <p:nvPr/>
        </p:nvSpPr>
        <p:spPr>
          <a:xfrm>
            <a:off x="7853081" y="5250852"/>
            <a:ext cx="414169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u="sng" dirty="0">
                <a:solidFill>
                  <a:srgbClr val="FF0000"/>
                </a:solidFill>
              </a:rPr>
              <a:t>General Procedures: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Load data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Perform peak detection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Extract segments based on the detected peaks</a:t>
            </a:r>
            <a:endParaRPr lang="en-SG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125"/>
          <p:cNvSpPr txBox="1"/>
          <p:nvPr/>
        </p:nvSpPr>
        <p:spPr>
          <a:xfrm>
            <a:off x="584200" y="393700"/>
            <a:ext cx="4801740" cy="115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Workshop</a:t>
            </a:r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Compute the accumulated costs, plot the optimal paths and warp</a:t>
            </a:r>
          </a:p>
        </p:txBody>
      </p:sp>
      <p:pic>
        <p:nvPicPr>
          <p:cNvPr id="510" name="Screenshot 2019-03-01 at 1.54.35 PM.png" descr="Screenshot 2019-03-01 at 1.54.35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51" y="4593749"/>
            <a:ext cx="5178452" cy="3847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Screenshot 2019-03-01 at 1.55.27 PM.png" descr="Screenshot 2019-03-01 at 1.55.27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07" y="4623872"/>
            <a:ext cx="4591451" cy="3941457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Shape 126"/>
          <p:cNvSpPr txBox="1"/>
          <p:nvPr/>
        </p:nvSpPr>
        <p:spPr>
          <a:xfrm>
            <a:off x="6261100" y="406400"/>
            <a:ext cx="5060554" cy="2380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7000" indent="-127000" algn="l">
              <a:spcBef>
                <a:spcPts val="500"/>
              </a:spcBef>
              <a:buClr>
                <a:srgbClr val="A7A7A7"/>
              </a:buClr>
              <a:buSzPct val="100000"/>
              <a:buChar char="•"/>
              <a:defRPr sz="24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3200" dirty="0"/>
              <a:t>Make the comparisons between segment </a:t>
            </a:r>
          </a:p>
          <a:p>
            <a:pPr marL="360363" lvl="2" algn="l">
              <a:buClr>
                <a:srgbClr val="A7A7A7"/>
              </a:buClr>
              <a:defRPr sz="20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2800" dirty="0"/>
              <a:t>1 and 2</a:t>
            </a:r>
          </a:p>
          <a:p>
            <a:pPr marL="360363" lvl="2" algn="l">
              <a:buClr>
                <a:srgbClr val="A7A7A7"/>
              </a:buClr>
              <a:defRPr sz="20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2800" dirty="0"/>
              <a:t>2 and 3</a:t>
            </a:r>
            <a:endParaRPr lang="en-US" sz="2800" dirty="0"/>
          </a:p>
          <a:p>
            <a:pPr marL="360363" lvl="2" algn="l">
              <a:buClr>
                <a:srgbClr val="A7A7A7"/>
              </a:buClr>
              <a:defRPr sz="2000">
                <a:solidFill>
                  <a:srgbClr val="262626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sz="2800" dirty="0"/>
              <a:t>2 and 6</a:t>
            </a:r>
          </a:p>
        </p:txBody>
      </p:sp>
      <p:sp>
        <p:nvSpPr>
          <p:cNvPr id="51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4200" y="1903268"/>
            <a:ext cx="547594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sym typeface="Helvetica Neue"/>
              </a:rPr>
              <a:t>If you are done early, try on other signals </a:t>
            </a:r>
          </a:p>
          <a:p>
            <a:r>
              <a:rPr lang="en-US" sz="3200" b="1" dirty="0">
                <a:solidFill>
                  <a:srgbClr val="FF0000"/>
                </a:solidFill>
                <a:sym typeface="Helvetica Neue"/>
              </a:rPr>
              <a:t>(i.e. other than the 2</a:t>
            </a:r>
            <a:r>
              <a:rPr lang="en-US" sz="3200" b="1" baseline="30000" dirty="0">
                <a:solidFill>
                  <a:srgbClr val="FF0000"/>
                </a:solidFill>
                <a:sym typeface="Helvetica Neue"/>
              </a:rPr>
              <a:t>nd</a:t>
            </a: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 column of the </a:t>
            </a:r>
            <a:r>
              <a:rPr lang="en-US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ecg2D</a:t>
            </a:r>
            <a:r>
              <a:rPr lang="en-US" sz="3200" b="1" dirty="0">
                <a:solidFill>
                  <a:srgbClr val="FF0000"/>
                </a:solidFill>
                <a:sym typeface="Helvetica Neue"/>
              </a:rPr>
              <a:t> data)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125"/>
          <p:cNvSpPr txBox="1"/>
          <p:nvPr/>
        </p:nvSpPr>
        <p:spPr>
          <a:xfrm>
            <a:off x="584199" y="393700"/>
            <a:ext cx="90862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Workshop</a:t>
            </a:r>
            <a:r>
              <a:rPr lang="en-US" dirty="0"/>
              <a:t> Hints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extractECG</a:t>
            </a:r>
            <a:r>
              <a:rPr lang="en-US" dirty="0"/>
              <a:t> function</a:t>
            </a:r>
            <a:endParaRPr dirty="0"/>
          </a:p>
        </p:txBody>
      </p:sp>
      <p:pic>
        <p:nvPicPr>
          <p:cNvPr id="510" name="Screenshot 2019-03-01 at 1.54.35 PM.png" descr="Screenshot 2019-03-01 at 1.54.35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51" y="4593749"/>
            <a:ext cx="5178452" cy="3847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Screenshot 2019-03-01 at 1.55.27 PM.png" descr="Screenshot 2019-03-01 at 1.55.27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07" y="4623872"/>
            <a:ext cx="4591451" cy="3941457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40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199" y="1078324"/>
            <a:ext cx="11289146" cy="2572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Tips how to chop the </a:t>
            </a:r>
            <a:r>
              <a:rPr lang="en-US" sz="2800" b="1" u="sng" dirty="0" err="1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ecg</a:t>
            </a:r>
            <a:r>
              <a:rPr lang="en-US" sz="2800" b="1" u="sng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Assume, you have all the peaks being identified, and ‘</a:t>
            </a:r>
            <a:r>
              <a:rPr lang="en-US" sz="280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pks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’ is the list to hold all the position of peaks. Assume ‘</a:t>
            </a:r>
            <a:r>
              <a:rPr lang="en-US" sz="280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ecg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’ is the ECG signals. Then you need to go through a “for-loop”, for each iteration,  you do:</a:t>
            </a:r>
            <a:endParaRPr lang="en-SG" sz="28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Seg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ecg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[(</a:t>
            </a:r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pks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]-offset):(</a:t>
            </a:r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pks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[i+1]-offset)]</a:t>
            </a:r>
            <a:endParaRPr lang="en-SG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0548" y="3873782"/>
            <a:ext cx="9036448" cy="580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Another Tip: You need to ignore the last peak</a:t>
            </a:r>
          </a:p>
        </p:txBody>
      </p:sp>
    </p:spTree>
    <p:extLst>
      <p:ext uri="{BB962C8B-B14F-4D97-AF65-F5344CB8AC3E}">
        <p14:creationId xmlns:p14="http://schemas.microsoft.com/office/powerpoint/2010/main" val="317742698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125"/>
          <p:cNvSpPr txBox="1"/>
          <p:nvPr/>
        </p:nvSpPr>
        <p:spPr>
          <a:xfrm>
            <a:off x="584199" y="393700"/>
            <a:ext cx="90862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Workshop</a:t>
            </a:r>
            <a:r>
              <a:rPr lang="en-US" dirty="0"/>
              <a:t> Hints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extractECG</a:t>
            </a:r>
            <a:r>
              <a:rPr lang="en-US" dirty="0"/>
              <a:t> function</a:t>
            </a:r>
            <a:endParaRPr dirty="0"/>
          </a:p>
        </p:txBody>
      </p:sp>
      <p:sp>
        <p:nvSpPr>
          <p:cNvPr id="51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41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199" y="1078324"/>
            <a:ext cx="11289146" cy="752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Tips how to chop the </a:t>
            </a:r>
            <a:r>
              <a:rPr lang="en-US" sz="2800" b="1" u="sng" dirty="0" err="1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ecg</a:t>
            </a:r>
            <a:r>
              <a:rPr lang="en-US" sz="2800" b="1" u="sng" dirty="0">
                <a:solidFill>
                  <a:srgbClr val="FF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extractECG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ecg,pks,offset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=15):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= [ ]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[0]-offset &lt; 0: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start   = 1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start   = 0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start,len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)-1):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ecg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]-offset):(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[i+1]-offset)]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segs.append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endParaRPr lang="en-SG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en-SG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EcgSegs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extractECG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ECGs,Pks</a:t>
            </a:r>
            <a:r>
              <a:rPr lang="en-SG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03627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125"/>
          <p:cNvSpPr txBox="1"/>
          <p:nvPr/>
        </p:nvSpPr>
        <p:spPr>
          <a:xfrm>
            <a:off x="584199" y="393700"/>
            <a:ext cx="10693401" cy="97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spcAft>
                <a:spcPts val="1200"/>
              </a:spcAft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Workshop</a:t>
            </a:r>
            <a:r>
              <a:rPr lang="en-US" dirty="0"/>
              <a:t> Hints for </a:t>
            </a:r>
            <a:r>
              <a:rPr lang="en-US" sz="2800" b="1" dirty="0">
                <a:sym typeface="Helvetica Neue"/>
              </a:rPr>
              <a:t>Performing DTW on ECG segments</a:t>
            </a:r>
          </a:p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>
                <a:solidFill>
                  <a:srgbClr val="FF0000"/>
                </a:solidFill>
              </a:rPr>
              <a:t>Example for comparing between segments 1 and 2: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510" name="Screenshot 2019-03-01 at 1.54.35 PM.png" descr="Screenshot 2019-03-01 at 1.54.35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51" y="4593749"/>
            <a:ext cx="5178452" cy="3847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Screenshot 2019-03-01 at 1.55.27 PM.png" descr="Screenshot 2019-03-01 at 1.55.27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07" y="4623872"/>
            <a:ext cx="4591451" cy="3941457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42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84199" y="1564509"/>
            <a:ext cx="11289146" cy="2390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computeDists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[0],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computeAcuCost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path,cost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doDTW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[0],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[1],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pltCostAndPath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acuCost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path)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pltWarp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[0], </a:t>
            </a:r>
            <a:r>
              <a:rPr lang="en-SG" sz="23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segs</a:t>
            </a:r>
            <a:r>
              <a:rPr lang="en-SG" sz="23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[1], path)</a:t>
            </a:r>
          </a:p>
        </p:txBody>
      </p:sp>
    </p:spTree>
    <p:extLst>
      <p:ext uri="{BB962C8B-B14F-4D97-AF65-F5344CB8AC3E}">
        <p14:creationId xmlns:p14="http://schemas.microsoft.com/office/powerpoint/2010/main" val="40655665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125"/>
          <p:cNvSpPr txBox="1"/>
          <p:nvPr/>
        </p:nvSpPr>
        <p:spPr>
          <a:xfrm>
            <a:off x="584200" y="393700"/>
            <a:ext cx="11552382" cy="820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Bonus </a:t>
            </a:r>
            <a:r>
              <a:rPr dirty="0"/>
              <a:t>Workshop</a:t>
            </a:r>
            <a:r>
              <a:rPr lang="en-US" dirty="0"/>
              <a:t> [Do </a:t>
            </a:r>
            <a:r>
              <a:rPr lang="en-US" u="sng" dirty="0"/>
              <a:t>NOT</a:t>
            </a:r>
            <a:r>
              <a:rPr lang="en-US" dirty="0"/>
              <a:t> need to submit this]</a:t>
            </a:r>
            <a:endParaRPr dirty="0"/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Comparing U.S., China &amp; Japan GDP for the past 2 decades [2002 to 2022]</a:t>
            </a:r>
            <a:endParaRPr dirty="0"/>
          </a:p>
        </p:txBody>
      </p:sp>
      <p:sp>
        <p:nvSpPr>
          <p:cNvPr id="51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20666" y="8915400"/>
            <a:ext cx="368504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43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84200" y="1383723"/>
            <a:ext cx="5788891" cy="44114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Using the GDP.csv data,</a:t>
            </a:r>
            <a:r>
              <a:rPr kumimoji="0" lang="en-US" sz="2800" b="1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 use DTW to compare the following:</a:t>
            </a:r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U.S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 GDP vs China GDP</a:t>
            </a:r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400" dirty="0"/>
              <a:t>China GDP vs Japan GDP</a:t>
            </a:r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U.S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 GDP vs Japan GDP</a:t>
            </a:r>
          </a:p>
          <a:p>
            <a:pPr marL="514350" marR="0" indent="-5143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en-US" sz="2400" baseline="0" dirty="0"/>
          </a:p>
          <a:p>
            <a:pPr marR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800" b="1" dirty="0"/>
              <a:t>The breakdown of the GDP.csv data file is as follows: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Column 1 – U.S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Helvetica Light"/>
              </a:rPr>
              <a:t> GDP 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400" dirty="0"/>
              <a:t>Column 2 – China GDP </a:t>
            </a:r>
          </a:p>
          <a:p>
            <a:pPr marL="457200" marR="0" indent="-4572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400" dirty="0"/>
              <a:t>Column 3 – Japan GDP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66" y="5160169"/>
            <a:ext cx="5218316" cy="36911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266" y="1469015"/>
            <a:ext cx="5218316" cy="36911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" y="5964472"/>
            <a:ext cx="4872812" cy="369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93188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25"/>
          <p:cNvSpPr txBox="1"/>
          <p:nvPr/>
        </p:nvSpPr>
        <p:spPr>
          <a:xfrm>
            <a:off x="584199" y="393700"/>
            <a:ext cx="10401301" cy="820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algn="l">
              <a:lnSpc>
                <a:spcPts val="2800"/>
              </a:lnSpc>
              <a:defRPr sz="2800" b="1">
                <a:solidFill>
                  <a:srgbClr val="0E0E0E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Appendix: Comparison among Various Methods</a:t>
            </a:r>
            <a:endParaRPr dirty="0"/>
          </a:p>
          <a:p>
            <a:pPr algn="l">
              <a:lnSpc>
                <a:spcPts val="2800"/>
              </a:lnSpc>
              <a:defRPr sz="23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SG" dirty="0"/>
              <a:t>To measure similarity between signals</a:t>
            </a:r>
            <a:endParaRPr dirty="0"/>
          </a:p>
        </p:txBody>
      </p:sp>
      <p:sp>
        <p:nvSpPr>
          <p:cNvPr id="18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584217" y="8915400"/>
            <a:ext cx="241403" cy="381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44</a:t>
            </a:fld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533"/>
              </p:ext>
            </p:extLst>
          </p:nvPr>
        </p:nvGraphicFramePr>
        <p:xfrm>
          <a:off x="584198" y="1361599"/>
          <a:ext cx="11633202" cy="740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8711">
                  <a:extLst>
                    <a:ext uri="{9D8B030D-6E8A-4147-A177-3AD203B41FA5}">
                      <a16:colId xmlns:a16="http://schemas.microsoft.com/office/drawing/2014/main" val="2949490960"/>
                    </a:ext>
                  </a:extLst>
                </a:gridCol>
                <a:gridCol w="3976255">
                  <a:extLst>
                    <a:ext uri="{9D8B030D-6E8A-4147-A177-3AD203B41FA5}">
                      <a16:colId xmlns:a16="http://schemas.microsoft.com/office/drawing/2014/main" val="2760148559"/>
                    </a:ext>
                  </a:extLst>
                </a:gridCol>
                <a:gridCol w="4708236">
                  <a:extLst>
                    <a:ext uri="{9D8B030D-6E8A-4147-A177-3AD203B41FA5}">
                      <a16:colId xmlns:a16="http://schemas.microsoft.com/office/drawing/2014/main" val="1836598831"/>
                    </a:ext>
                  </a:extLst>
                </a:gridCol>
              </a:tblGrid>
              <a:tr h="400261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Pros</a:t>
                      </a:r>
                      <a:endParaRPr lang="en-SG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Cons</a:t>
                      </a:r>
                      <a:endParaRPr lang="en-SG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45325"/>
                  </a:ext>
                </a:extLst>
              </a:tr>
              <a:tr h="720470">
                <a:tc>
                  <a:txBody>
                    <a:bodyPr/>
                    <a:lstStyle/>
                    <a:p>
                      <a:r>
                        <a:rPr lang="en-SG" sz="2400" b="1" dirty="0"/>
                        <a:t>Euclidean/Manhattan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Easy to implement;</a:t>
                      </a:r>
                      <a:r>
                        <a:rPr lang="en-US" baseline="0" dirty="0"/>
                        <a:t> straightforward</a:t>
                      </a:r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Only works if the signals to be compared are of same length and preferably similar shape</a:t>
                      </a:r>
                      <a:endParaRPr lang="en-S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601321"/>
                  </a:ext>
                </a:extLst>
              </a:tr>
              <a:tr h="1280836">
                <a:tc>
                  <a:txBody>
                    <a:bodyPr/>
                    <a:lstStyle/>
                    <a:p>
                      <a:r>
                        <a:rPr lang="en-SG" sz="2400" b="1" dirty="0"/>
                        <a:t>DTW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necessary for signals to be of same length and shape;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Computes faster than LCSS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dirty="0"/>
                        <a:t>Heavy computational burden</a:t>
                      </a:r>
                      <a:r>
                        <a:rPr lang="en-SG" baseline="0" dirty="0"/>
                        <a:t> (worse than Euclidean/Manhattan distance method);</a:t>
                      </a:r>
                    </a:p>
                    <a:p>
                      <a:pPr algn="l"/>
                      <a:endParaRPr lang="en-US" baseline="0" dirty="0"/>
                    </a:p>
                    <a:p>
                      <a:pPr algn="l"/>
                      <a:r>
                        <a:rPr lang="en-SG" baseline="0" dirty="0"/>
                        <a:t>Unable to work if one of the signals is a partial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017751"/>
                  </a:ext>
                </a:extLst>
              </a:tr>
              <a:tr h="800522">
                <a:tc>
                  <a:txBody>
                    <a:bodyPr/>
                    <a:lstStyle/>
                    <a:p>
                      <a:r>
                        <a:rPr lang="en-SG" sz="2400" b="1" dirty="0"/>
                        <a:t>Subsequence DTW (SS-DTW)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 handle partial signals; Aligns a subsequence from one signal with another</a:t>
                      </a:r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Still computationally expensive compared to Euclidean/Manhattan; May still struggle with noisy signals</a:t>
                      </a:r>
                      <a:endParaRPr lang="en-S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8545"/>
                  </a:ext>
                </a:extLst>
              </a:tr>
              <a:tr h="1280836">
                <a:tc>
                  <a:txBody>
                    <a:bodyPr/>
                    <a:lstStyle/>
                    <a:p>
                      <a:r>
                        <a:rPr lang="en-SG" sz="2400" b="1" dirty="0"/>
                        <a:t>Longest common subsequence (LCSS)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necessary for signals to be of same length and shape;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rPr>
                        <a:t>Allows for the use of partial and noisy signals</a:t>
                      </a:r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Heavy computational burden; 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Computes slower than DTW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271044"/>
                  </a:ext>
                </a:extLst>
              </a:tr>
              <a:tr h="2001306">
                <a:tc>
                  <a:txBody>
                    <a:bodyPr/>
                    <a:lstStyle/>
                    <a:p>
                      <a:r>
                        <a:rPr lang="en-US" sz="2400" b="1" dirty="0"/>
                        <a:t>Developed Longest Common Subsequence (DLCSS)</a:t>
                      </a:r>
                      <a:endParaRPr lang="en-SG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Not necessary for signals to be of same length and shape;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8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rPr>
                        <a:t>Allows for the use of partial and noisy signals;</a:t>
                      </a:r>
                      <a:endParaRPr lang="en-US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algn="l"/>
                      <a:r>
                        <a:rPr lang="en-US" dirty="0"/>
                        <a:t>Most accurate among the other methods</a:t>
                      </a:r>
                      <a:endParaRPr lang="en-S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Heavy computational burden;</a:t>
                      </a:r>
                      <a:r>
                        <a:rPr lang="en-SG" baseline="0" dirty="0"/>
                        <a:t> 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baseline="0" dirty="0"/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Computes slower than DTW</a:t>
                      </a:r>
                      <a:r>
                        <a:rPr lang="en-SG" baseline="0" dirty="0"/>
                        <a:t> and LCSS</a:t>
                      </a:r>
                      <a:endParaRPr lang="en-S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16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6485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3e5870-11fe-4a83-8cea-8da4ba68ecd4">
      <Terms xmlns="http://schemas.microsoft.com/office/infopath/2007/PartnerControls"/>
    </lcf76f155ced4ddcb4097134ff3c332f>
    <TaxCatchAll xmlns="5d702571-db4b-4f59-949a-a2ad2c87902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56FDA91ED14A4D8578184A2A20739B" ma:contentTypeVersion="17" ma:contentTypeDescription="Create a new document." ma:contentTypeScope="" ma:versionID="c90dbce5c5c7102ab77e1c42e0c260a9">
  <xsd:schema xmlns:xsd="http://www.w3.org/2001/XMLSchema" xmlns:xs="http://www.w3.org/2001/XMLSchema" xmlns:p="http://schemas.microsoft.com/office/2006/metadata/properties" xmlns:ns2="a13e5870-11fe-4a83-8cea-8da4ba68ecd4" xmlns:ns3="5d702571-db4b-4f59-949a-a2ad2c87902f" targetNamespace="http://schemas.microsoft.com/office/2006/metadata/properties" ma:root="true" ma:fieldsID="df0f6c98555085ae2c579acd059f4aa4" ns2:_="" ns3:_="">
    <xsd:import namespace="a13e5870-11fe-4a83-8cea-8da4ba68ecd4"/>
    <xsd:import namespace="5d702571-db4b-4f59-949a-a2ad2c8790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e5870-11fe-4a83-8cea-8da4ba68ec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02571-db4b-4f59-949a-a2ad2c87902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52f77ad-570d-4d9a-b598-cf3214961a2e}" ma:internalName="TaxCatchAll" ma:showField="CatchAllData" ma:web="5d702571-db4b-4f59-949a-a2ad2c8790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1E9D8E-7732-4167-A0A4-A91EA58BCB8F}">
  <ds:schemaRefs>
    <ds:schemaRef ds:uri="http://purl.org/dc/terms/"/>
    <ds:schemaRef ds:uri="http://schemas.microsoft.com/office/2006/documentManagement/types"/>
    <ds:schemaRef ds:uri="http://www.w3.org/XML/1998/namespace"/>
    <ds:schemaRef ds:uri="5d702571-db4b-4f59-949a-a2ad2c87902f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a13e5870-11fe-4a83-8cea-8da4ba68ecd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EE132ED-DB91-4958-896F-1471BF3A17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0391DF-9CB0-4126-BD2F-E87B26F45E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3e5870-11fe-4a83-8cea-8da4ba68ecd4"/>
    <ds:schemaRef ds:uri="5d702571-db4b-4f59-949a-a2ad2c879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3759</TotalTime>
  <Words>5081</Words>
  <Application>Microsoft Office PowerPoint</Application>
  <PresentationFormat>Custom</PresentationFormat>
  <Paragraphs>875</Paragraphs>
  <Slides>44</Slides>
  <Notes>41</Notes>
  <HiddenSlides>5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Helvetica Light</vt:lpstr>
      <vt:lpstr>Helvetica Neue</vt:lpstr>
      <vt:lpstr>Menlo Regular</vt:lpstr>
      <vt:lpstr>Arial</vt:lpstr>
      <vt:lpstr>Calibri</vt:lpstr>
      <vt:lpstr>Cambria Math</vt:lpstr>
      <vt:lpstr>Courier New</vt:lpstr>
      <vt:lpstr>Fira Sans Light</vt:lpstr>
      <vt:lpstr>Times New Roman</vt:lpstr>
      <vt:lpstr>Wingdings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 Jun Hui Nicholas</dc:creator>
  <cp:lastModifiedBy>Hu Zhengqing</cp:lastModifiedBy>
  <cp:revision>175</cp:revision>
  <dcterms:modified xsi:type="dcterms:W3CDTF">2026-09-12T04:07:21Z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0x0101000D56FDA91ED14A4D8578184A2A20739B</vt:lpwstr>
  </property>
</Properties>
</file>