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8"/>
  </p:notesMasterIdLst>
  <p:handoutMasterIdLst>
    <p:handoutMasterId r:id="rId9"/>
  </p:handoutMasterIdLst>
  <p:sldIdLst>
    <p:sldId id="325" r:id="rId2"/>
    <p:sldId id="575" r:id="rId3"/>
    <p:sldId id="567" r:id="rId4"/>
    <p:sldId id="570" r:id="rId5"/>
    <p:sldId id="574" r:id="rId6"/>
    <p:sldId id="354" r:id="rId7"/>
  </p:sldIdLst>
  <p:sldSz cx="9144000" cy="6858000" type="screen4x3"/>
  <p:notesSz cx="7099300" cy="10234613"/>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F7E"/>
    <a:srgbClr val="F58220"/>
    <a:srgbClr val="339933"/>
    <a:srgbClr val="006600"/>
    <a:srgbClr val="C00085"/>
    <a:srgbClr val="898989"/>
    <a:srgbClr val="33B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3979" autoAdjust="0"/>
  </p:normalViewPr>
  <p:slideViewPr>
    <p:cSldViewPr snapToGrid="0">
      <p:cViewPr varScale="1">
        <p:scale>
          <a:sx n="110" d="100"/>
          <a:sy n="110" d="100"/>
        </p:scale>
        <p:origin x="1088"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10" d="100"/>
        <a:sy n="110" d="100"/>
      </p:scale>
      <p:origin x="0" y="0"/>
    </p:cViewPr>
  </p:sorterViewPr>
  <p:notesViewPr>
    <p:cSldViewPr snapToGrid="0">
      <p:cViewPr varScale="1">
        <p:scale>
          <a:sx n="48" d="100"/>
          <a:sy n="48" d="100"/>
        </p:scale>
        <p:origin x="276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76363" cy="511731"/>
          </a:xfrm>
          <a:prstGeom prst="rect">
            <a:avLst/>
          </a:prstGeom>
        </p:spPr>
        <p:txBody>
          <a:bodyPr vert="horz" lIns="99024" tIns="49512" rIns="99024" bIns="49512" rtlCol="0"/>
          <a:lstStyle>
            <a:lvl1pPr algn="l">
              <a:defRPr sz="1200"/>
            </a:lvl1pPr>
          </a:lstStyle>
          <a:p>
            <a:endParaRPr lang="en-US"/>
          </a:p>
        </p:txBody>
      </p:sp>
      <p:sp>
        <p:nvSpPr>
          <p:cNvPr id="3" name="Date Placeholder 2"/>
          <p:cNvSpPr>
            <a:spLocks noGrp="1"/>
          </p:cNvSpPr>
          <p:nvPr>
            <p:ph type="dt" sz="quarter" idx="1"/>
          </p:nvPr>
        </p:nvSpPr>
        <p:spPr>
          <a:xfrm>
            <a:off x="4021297" y="2"/>
            <a:ext cx="3076363" cy="511731"/>
          </a:xfrm>
          <a:prstGeom prst="rect">
            <a:avLst/>
          </a:prstGeom>
        </p:spPr>
        <p:txBody>
          <a:bodyPr vert="horz" lIns="99024" tIns="49512" rIns="99024" bIns="49512" rtlCol="0"/>
          <a:lstStyle>
            <a:lvl1pPr algn="r">
              <a:defRPr sz="1200"/>
            </a:lvl1pPr>
          </a:lstStyle>
          <a:p>
            <a:fld id="{43F1A4C9-FB5C-B247-A357-650712A3F0A8}" type="datetimeFigureOut">
              <a:rPr lang="en-US" smtClean="0"/>
              <a:pPr/>
              <a:t>9/22/2026</a:t>
            </a:fld>
            <a:endParaRPr lang="en-US"/>
          </a:p>
        </p:txBody>
      </p:sp>
      <p:sp>
        <p:nvSpPr>
          <p:cNvPr id="4" name="Footer Placeholder 3"/>
          <p:cNvSpPr>
            <a:spLocks noGrp="1"/>
          </p:cNvSpPr>
          <p:nvPr>
            <p:ph type="ftr" sz="quarter" idx="2"/>
          </p:nvPr>
        </p:nvSpPr>
        <p:spPr>
          <a:xfrm>
            <a:off x="2" y="9721108"/>
            <a:ext cx="3076363" cy="511731"/>
          </a:xfrm>
          <a:prstGeom prst="rect">
            <a:avLst/>
          </a:prstGeom>
        </p:spPr>
        <p:txBody>
          <a:bodyPr vert="horz" lIns="99024" tIns="49512" rIns="99024" bIns="49512" rtlCol="0" anchor="b"/>
          <a:lstStyle>
            <a:lvl1pPr algn="l">
              <a:defRPr sz="1200"/>
            </a:lvl1pPr>
          </a:lstStyle>
          <a:p>
            <a:endParaRPr lang="en-US"/>
          </a:p>
        </p:txBody>
      </p:sp>
      <p:sp>
        <p:nvSpPr>
          <p:cNvPr id="5" name="Slide Number Placeholder 4"/>
          <p:cNvSpPr>
            <a:spLocks noGrp="1"/>
          </p:cNvSpPr>
          <p:nvPr>
            <p:ph type="sldNum" sz="quarter" idx="3"/>
          </p:nvPr>
        </p:nvSpPr>
        <p:spPr>
          <a:xfrm>
            <a:off x="4021297" y="9721108"/>
            <a:ext cx="3076363" cy="511731"/>
          </a:xfrm>
          <a:prstGeom prst="rect">
            <a:avLst/>
          </a:prstGeom>
        </p:spPr>
        <p:txBody>
          <a:bodyPr vert="horz" lIns="99024" tIns="49512" rIns="99024" bIns="49512" rtlCol="0" anchor="b"/>
          <a:lstStyle>
            <a:lvl1pPr algn="r">
              <a:defRPr sz="1200"/>
            </a:lvl1pPr>
          </a:lstStyle>
          <a:p>
            <a:fld id="{C9D91F05-50D7-A946-8902-88FA310261AF}" type="slidenum">
              <a:rPr lang="en-US" smtClean="0"/>
              <a:pPr/>
              <a:t>‹#›</a:t>
            </a:fld>
            <a:endParaRPr lang="en-US"/>
          </a:p>
        </p:txBody>
      </p:sp>
    </p:spTree>
    <p:extLst>
      <p:ext uri="{BB962C8B-B14F-4D97-AF65-F5344CB8AC3E}">
        <p14:creationId xmlns:p14="http://schemas.microsoft.com/office/powerpoint/2010/main" val="873952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3076363" cy="513507"/>
          </a:xfrm>
          <a:prstGeom prst="rect">
            <a:avLst/>
          </a:prstGeom>
        </p:spPr>
        <p:txBody>
          <a:bodyPr vert="horz" lIns="99024" tIns="49512" rIns="99024" bIns="49512" rtlCol="0"/>
          <a:lstStyle>
            <a:lvl1pPr algn="l">
              <a:defRPr sz="1200"/>
            </a:lvl1pPr>
          </a:lstStyle>
          <a:p>
            <a:endParaRPr lang="en-SG"/>
          </a:p>
        </p:txBody>
      </p:sp>
      <p:sp>
        <p:nvSpPr>
          <p:cNvPr id="3" name="Date Placeholder 2"/>
          <p:cNvSpPr>
            <a:spLocks noGrp="1"/>
          </p:cNvSpPr>
          <p:nvPr>
            <p:ph type="dt" idx="1"/>
          </p:nvPr>
        </p:nvSpPr>
        <p:spPr>
          <a:xfrm>
            <a:off x="4021297" y="4"/>
            <a:ext cx="3076363" cy="513507"/>
          </a:xfrm>
          <a:prstGeom prst="rect">
            <a:avLst/>
          </a:prstGeom>
        </p:spPr>
        <p:txBody>
          <a:bodyPr vert="horz" lIns="99024" tIns="49512" rIns="99024" bIns="49512" rtlCol="0"/>
          <a:lstStyle>
            <a:lvl1pPr algn="r">
              <a:defRPr sz="1200"/>
            </a:lvl1pPr>
          </a:lstStyle>
          <a:p>
            <a:fld id="{EA4960E5-F060-4C88-B1C5-5A6F5890BEF6}" type="datetimeFigureOut">
              <a:rPr lang="en-SG" smtClean="0"/>
              <a:pPr/>
              <a:t>22/9/2026</a:t>
            </a:fld>
            <a:endParaRPr lang="en-SG"/>
          </a:p>
        </p:txBody>
      </p:sp>
      <p:sp>
        <p:nvSpPr>
          <p:cNvPr id="4" name="Slide Image Placeholder 3"/>
          <p:cNvSpPr>
            <a:spLocks noGrp="1" noRot="1" noChangeAspect="1"/>
          </p:cNvSpPr>
          <p:nvPr>
            <p:ph type="sldImg" idx="2"/>
          </p:nvPr>
        </p:nvSpPr>
        <p:spPr>
          <a:xfrm>
            <a:off x="1246188" y="1277938"/>
            <a:ext cx="4606925" cy="3455987"/>
          </a:xfrm>
          <a:prstGeom prst="rect">
            <a:avLst/>
          </a:prstGeom>
          <a:noFill/>
          <a:ln w="12700">
            <a:solidFill>
              <a:prstClr val="black"/>
            </a:solidFill>
          </a:ln>
        </p:spPr>
        <p:txBody>
          <a:bodyPr vert="horz" lIns="99024" tIns="49512" rIns="99024" bIns="49512" rtlCol="0" anchor="ctr"/>
          <a:lstStyle/>
          <a:p>
            <a:endParaRPr lang="en-SG"/>
          </a:p>
        </p:txBody>
      </p:sp>
      <p:sp>
        <p:nvSpPr>
          <p:cNvPr id="5" name="Notes Placeholder 4"/>
          <p:cNvSpPr>
            <a:spLocks noGrp="1"/>
          </p:cNvSpPr>
          <p:nvPr>
            <p:ph type="body" sz="quarter" idx="3"/>
          </p:nvPr>
        </p:nvSpPr>
        <p:spPr>
          <a:xfrm>
            <a:off x="709931" y="4925407"/>
            <a:ext cx="5679440" cy="4029879"/>
          </a:xfrm>
          <a:prstGeom prst="rect">
            <a:avLst/>
          </a:prstGeom>
        </p:spPr>
        <p:txBody>
          <a:bodyPr vert="horz" lIns="99024" tIns="49512" rIns="99024" bIns="4951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2" y="9721110"/>
            <a:ext cx="3076363" cy="513507"/>
          </a:xfrm>
          <a:prstGeom prst="rect">
            <a:avLst/>
          </a:prstGeom>
        </p:spPr>
        <p:txBody>
          <a:bodyPr vert="horz" lIns="99024" tIns="49512" rIns="99024" bIns="49512" rtlCol="0" anchor="b"/>
          <a:lstStyle>
            <a:lvl1pPr algn="l">
              <a:defRPr sz="1200"/>
            </a:lvl1pPr>
          </a:lstStyle>
          <a:p>
            <a:endParaRPr lang="en-SG"/>
          </a:p>
        </p:txBody>
      </p:sp>
      <p:sp>
        <p:nvSpPr>
          <p:cNvPr id="7" name="Slide Number Placeholder 6"/>
          <p:cNvSpPr>
            <a:spLocks noGrp="1"/>
          </p:cNvSpPr>
          <p:nvPr>
            <p:ph type="sldNum" sz="quarter" idx="5"/>
          </p:nvPr>
        </p:nvSpPr>
        <p:spPr>
          <a:xfrm>
            <a:off x="4021297" y="9721110"/>
            <a:ext cx="3076363" cy="513507"/>
          </a:xfrm>
          <a:prstGeom prst="rect">
            <a:avLst/>
          </a:prstGeom>
        </p:spPr>
        <p:txBody>
          <a:bodyPr vert="horz" lIns="99024" tIns="49512" rIns="99024" bIns="49512" rtlCol="0" anchor="b"/>
          <a:lstStyle>
            <a:lvl1pPr algn="r">
              <a:defRPr sz="1200"/>
            </a:lvl1pPr>
          </a:lstStyle>
          <a:p>
            <a:fld id="{5E13ECD2-14D7-4265-AF23-95505127F74C}" type="slidenum">
              <a:rPr lang="en-SG" smtClean="0"/>
              <a:pPr/>
              <a:t>‹#›</a:t>
            </a:fld>
            <a:endParaRPr lang="en-SG"/>
          </a:p>
        </p:txBody>
      </p:sp>
    </p:spTree>
    <p:extLst>
      <p:ext uri="{BB962C8B-B14F-4D97-AF65-F5344CB8AC3E}">
        <p14:creationId xmlns:p14="http://schemas.microsoft.com/office/powerpoint/2010/main" val="1663632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pPr defTabSz="914326">
              <a:defRPr/>
            </a:pPr>
            <a:fld id="{5E13ECD2-14D7-4265-AF23-95505127F74C}" type="slidenum">
              <a:rPr lang="en-SG">
                <a:solidFill>
                  <a:prstClr val="black"/>
                </a:solidFill>
                <a:latin typeface="Calibri"/>
              </a:rPr>
              <a:pPr defTabSz="914326">
                <a:defRPr/>
              </a:pPr>
              <a:t>1</a:t>
            </a:fld>
            <a:endParaRPr lang="en-SG">
              <a:solidFill>
                <a:prstClr val="black"/>
              </a:solidFill>
              <a:latin typeface="Calibri"/>
            </a:endParaRPr>
          </a:p>
        </p:txBody>
      </p:sp>
    </p:spTree>
    <p:extLst>
      <p:ext uri="{BB962C8B-B14F-4D97-AF65-F5344CB8AC3E}">
        <p14:creationId xmlns:p14="http://schemas.microsoft.com/office/powerpoint/2010/main" val="10711384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p:nvPr>
        </p:nvSpPr>
        <p:spPr>
          <a:xfrm>
            <a:off x="1388466" y="2121318"/>
            <a:ext cx="7411601" cy="1280230"/>
          </a:xfrm>
        </p:spPr>
        <p:txBody>
          <a:bodyPr anchor="t">
            <a:normAutofit/>
          </a:bodyPr>
          <a:lstStyle>
            <a:lvl1pPr algn="l">
              <a:defRPr sz="4400" b="1" cap="all" baseline="0">
                <a:solidFill>
                  <a:srgbClr val="173F7E"/>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0" name="Text Placeholder 10"/>
          <p:cNvSpPr>
            <a:spLocks noGrp="1"/>
          </p:cNvSpPr>
          <p:nvPr>
            <p:ph type="body" sz="quarter" idx="13"/>
          </p:nvPr>
        </p:nvSpPr>
        <p:spPr>
          <a:xfrm>
            <a:off x="1388466" y="4127588"/>
            <a:ext cx="6846887" cy="1441107"/>
          </a:xfrm>
        </p:spPr>
        <p:txBody>
          <a:bodyPr>
            <a:normAutofit/>
          </a:bodyPr>
          <a:lstStyle>
            <a:lvl1pPr marL="0" indent="0">
              <a:buNone/>
              <a:defRPr sz="2000" b="1">
                <a:solidFill>
                  <a:schemeClr val="tx1"/>
                </a:solidFill>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892325"/>
            <a:ext cx="1177848" cy="1093166"/>
          </a:xfrm>
          <a:prstGeom prst="rect">
            <a:avLst/>
          </a:prstGeom>
        </p:spPr>
      </p:pic>
      <p:pic>
        <p:nvPicPr>
          <p:cNvPr id="11" name="Picture 1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84725" y="-22280"/>
            <a:ext cx="284673" cy="5373216"/>
          </a:xfrm>
          <a:prstGeom prst="rect">
            <a:avLst/>
          </a:prstGeom>
        </p:spPr>
      </p:pic>
      <p:pic>
        <p:nvPicPr>
          <p:cNvPr id="13" name="Picture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892325"/>
            <a:ext cx="1177848" cy="1093166"/>
          </a:xfrm>
          <a:prstGeom prst="rect">
            <a:avLst/>
          </a:prstGeom>
        </p:spPr>
      </p:pic>
      <p:pic>
        <p:nvPicPr>
          <p:cNvPr id="14" name="Picture 1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884725" y="-22280"/>
            <a:ext cx="284673" cy="5373216"/>
          </a:xfrm>
          <a:prstGeom prst="rect">
            <a:avLst/>
          </a:prstGeom>
        </p:spPr>
      </p:pic>
      <p:sp>
        <p:nvSpPr>
          <p:cNvPr id="15"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6" name="Picture 15"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4"/>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89565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Agenda</a:t>
            </a:r>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12" name="Text Placeholder 11"/>
          <p:cNvSpPr>
            <a:spLocks noGrp="1"/>
          </p:cNvSpPr>
          <p:nvPr>
            <p:ph type="body" sz="quarter" idx="13" hasCustomPrompt="1"/>
          </p:nvPr>
        </p:nvSpPr>
        <p:spPr>
          <a:xfrm>
            <a:off x="628650" y="1167027"/>
            <a:ext cx="7886700" cy="4143375"/>
          </a:xfrm>
        </p:spPr>
        <p:txBody>
          <a:bodyPr/>
          <a:lstStyle>
            <a:lvl1pPr marL="514350" indent="-514350" algn="just">
              <a:buFont typeface="Arial" panose="020B0604020202020204" pitchFamily="34" charset="0"/>
              <a:buChar char="•"/>
              <a:defRPr b="0" cap="none" baseline="0">
                <a:solidFill>
                  <a:schemeClr val="tx1"/>
                </a:solidFill>
              </a:defRPr>
            </a:lvl1pPr>
            <a:lvl2pPr>
              <a:defRPr>
                <a:solidFill>
                  <a:schemeClr val="tx1">
                    <a:lumMod val="75000"/>
                    <a:lumOff val="25000"/>
                  </a:schemeClr>
                </a:solidFill>
              </a:defRPr>
            </a:lvl2pPr>
          </a:lstStyle>
          <a:p>
            <a:pPr lvl="0"/>
            <a:r>
              <a:rPr lang="en-US" dirty="0"/>
              <a:t>Agenda 1</a:t>
            </a:r>
          </a:p>
          <a:p>
            <a:pPr lvl="0"/>
            <a:r>
              <a:rPr lang="en-US" dirty="0"/>
              <a:t>Agenda 2</a:t>
            </a:r>
          </a:p>
          <a:p>
            <a:pPr lvl="0"/>
            <a:r>
              <a:rPr lang="en-US" dirty="0"/>
              <a:t>Agenda 3</a:t>
            </a:r>
          </a:p>
          <a:p>
            <a:pPr lvl="0"/>
            <a:r>
              <a:rPr lang="en-US" dirty="0"/>
              <a:t>Agenda 4</a:t>
            </a:r>
          </a:p>
          <a:p>
            <a:pPr lvl="0"/>
            <a:r>
              <a:rPr lang="en-US" dirty="0"/>
              <a:t>Agenda 5</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9"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0" name="Picture 9"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3"/>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2546795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Title</a:t>
            </a:r>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10"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1" name="Picture 10"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3"/>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17807070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spTree>
    <p:extLst>
      <p:ext uri="{BB962C8B-B14F-4D97-AF65-F5344CB8AC3E}">
        <p14:creationId xmlns:p14="http://schemas.microsoft.com/office/powerpoint/2010/main" val="344046255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9"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ISSM Day2 worksheet</a:t>
            </a:r>
          </a:p>
        </p:txBody>
      </p:sp>
      <p:sp>
        <p:nvSpPr>
          <p:cNvPr id="6" name="Text Placeholder 5"/>
          <p:cNvSpPr>
            <a:spLocks noGrp="1"/>
          </p:cNvSpPr>
          <p:nvPr>
            <p:ph type="body" sz="quarter" idx="13"/>
          </p:nvPr>
        </p:nvSpPr>
        <p:spPr/>
        <p:txBody>
          <a:bodyPr/>
          <a:lstStyle/>
          <a:p>
            <a:pPr marL="342900" indent="-342900" algn="just">
              <a:buFont typeface="Arial" panose="020B0604020202020204" pitchFamily="34" charset="0"/>
              <a:buChar char="•"/>
            </a:pPr>
            <a:r>
              <a:rPr lang="en-US" b="0" dirty="0"/>
              <a:t>This activity involves a group discussion.</a:t>
            </a:r>
          </a:p>
          <a:p>
            <a:pPr marL="342900" indent="-342900" algn="just">
              <a:buFont typeface="Arial" panose="020B0604020202020204" pitchFamily="34" charset="0"/>
              <a:buChar char="•"/>
            </a:pPr>
            <a:r>
              <a:rPr lang="en-US" b="0" dirty="0"/>
              <a:t>You are </a:t>
            </a:r>
            <a:r>
              <a:rPr lang="en-US" b="0" dirty="0">
                <a:solidFill>
                  <a:srgbClr val="C00000"/>
                </a:solidFill>
              </a:rPr>
              <a:t>allowed</a:t>
            </a:r>
            <a:r>
              <a:rPr lang="en-US" b="0" dirty="0"/>
              <a:t> to use AI tools for this discussion.</a:t>
            </a:r>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1</a:t>
            </a:fld>
            <a:endParaRPr lang="en-SG" dirty="0"/>
          </a:p>
        </p:txBody>
      </p:sp>
    </p:spTree>
    <p:extLst>
      <p:ext uri="{BB962C8B-B14F-4D97-AF65-F5344CB8AC3E}">
        <p14:creationId xmlns:p14="http://schemas.microsoft.com/office/powerpoint/2010/main" val="3142499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 members</a:t>
            </a:r>
            <a:endParaRPr lang="en-SG" dirty="0"/>
          </a:p>
        </p:txBody>
      </p:sp>
      <p:sp>
        <p:nvSpPr>
          <p:cNvPr id="3" name="Text Placeholder 2"/>
          <p:cNvSpPr>
            <a:spLocks noGrp="1"/>
          </p:cNvSpPr>
          <p:nvPr>
            <p:ph type="body" sz="quarter" idx="13"/>
          </p:nvPr>
        </p:nvSpPr>
        <p:spPr/>
        <p:txBody>
          <a:bodyPr/>
          <a:lstStyle/>
          <a:p>
            <a:r>
              <a:rPr lang="en-US" dirty="0"/>
              <a:t>List your team members’ </a:t>
            </a:r>
            <a:r>
              <a:rPr lang="en-US" dirty="0">
                <a:highlight>
                  <a:srgbClr val="FFFF00"/>
                </a:highlight>
              </a:rPr>
              <a:t>full names</a:t>
            </a:r>
            <a:r>
              <a:rPr lang="en-US" dirty="0"/>
              <a:t> (as in your course registration)</a:t>
            </a:r>
          </a:p>
          <a:p>
            <a:endParaRPr lang="en-US" dirty="0"/>
          </a:p>
          <a:p>
            <a:r>
              <a:rPr lang="en-US" altLang="zh-CN" dirty="0"/>
              <a:t>Wang Mingyang    A0331532R</a:t>
            </a:r>
            <a:endParaRPr lang="zh-CN" altLang="zh-CN" dirty="0"/>
          </a:p>
          <a:p>
            <a:r>
              <a:rPr lang="en-US" altLang="zh-CN" dirty="0"/>
              <a:t>Su Tanjia               A0354250M</a:t>
            </a:r>
            <a:endParaRPr lang="zh-CN" altLang="zh-CN" dirty="0"/>
          </a:p>
          <a:p>
            <a:r>
              <a:rPr lang="en-US" altLang="zh-CN" dirty="0"/>
              <a:t>Fu </a:t>
            </a:r>
            <a:r>
              <a:rPr lang="en-US" altLang="zh-CN" dirty="0" err="1"/>
              <a:t>Junchun</a:t>
            </a:r>
            <a:r>
              <a:rPr lang="en-US" altLang="zh-CN" dirty="0"/>
              <a:t>           A0353395W</a:t>
            </a:r>
            <a:endParaRPr lang="zh-CN" altLang="zh-CN" dirty="0"/>
          </a:p>
          <a:p>
            <a:r>
              <a:rPr lang="en-US" altLang="zh-CN" dirty="0"/>
              <a:t>Yan Yi                     A0333825A</a:t>
            </a:r>
            <a:endParaRPr lang="zh-CN" altLang="zh-CN" dirty="0"/>
          </a:p>
          <a:p>
            <a:r>
              <a:rPr lang="en-US" altLang="zh-CN" dirty="0"/>
              <a:t>Wang Zimo            A0328948J</a:t>
            </a:r>
            <a:endParaRPr lang="zh-CN" altLang="zh-CN" dirty="0"/>
          </a:p>
          <a:p>
            <a:pPr marL="0" indent="0">
              <a:buNone/>
            </a:pPr>
            <a:endParaRPr lang="en-US" dirty="0"/>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2</a:t>
            </a:fld>
            <a:endParaRPr lang="en-SG" dirty="0"/>
          </a:p>
        </p:txBody>
      </p:sp>
    </p:spTree>
    <p:extLst>
      <p:ext uri="{BB962C8B-B14F-4D97-AF65-F5344CB8AC3E}">
        <p14:creationId xmlns:p14="http://schemas.microsoft.com/office/powerpoint/2010/main" val="2150065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endParaRPr lang="en-SG" dirty="0"/>
          </a:p>
        </p:txBody>
      </p:sp>
      <p:sp>
        <p:nvSpPr>
          <p:cNvPr id="3" name="Text Placeholder 2"/>
          <p:cNvSpPr>
            <a:spLocks noGrp="1"/>
          </p:cNvSpPr>
          <p:nvPr>
            <p:ph type="body" sz="quarter" idx="13"/>
          </p:nvPr>
        </p:nvSpPr>
        <p:spPr>
          <a:xfrm>
            <a:off x="628650" y="1167027"/>
            <a:ext cx="7886700" cy="4690309"/>
          </a:xfrm>
        </p:spPr>
        <p:txBody>
          <a:bodyPr>
            <a:noAutofit/>
          </a:bodyPr>
          <a:lstStyle/>
          <a:p>
            <a:pPr marL="0" indent="0">
              <a:buNone/>
            </a:pPr>
            <a:r>
              <a:rPr lang="en-US" sz="1800" dirty="0">
                <a:solidFill>
                  <a:srgbClr val="C00000"/>
                </a:solidFill>
              </a:rPr>
              <a:t>Use case: An intelligent pipe inspection system</a:t>
            </a:r>
          </a:p>
          <a:p>
            <a:pPr marL="0" indent="0">
              <a:buNone/>
            </a:pPr>
            <a:r>
              <a:rPr lang="en-US" sz="1800" dirty="0">
                <a:solidFill>
                  <a:schemeClr val="tx1"/>
                </a:solidFill>
              </a:rPr>
              <a:t>In heavy rain, impervious surfaces such as roads and driveways can contribute a large amount of polluted stormwater. To prevent flooding, streets are usually lined with stormwater drains to move stormwater off the road quickly. These drains are connected to stormwater pipes that channel stormwater directly to a nearby water body.</a:t>
            </a:r>
            <a:endParaRPr lang="en-SG" sz="1800" dirty="0">
              <a:solidFill>
                <a:schemeClr val="tx1"/>
              </a:solidFill>
            </a:endParaRPr>
          </a:p>
          <a:p>
            <a:pPr marL="0" indent="0">
              <a:buNone/>
            </a:pPr>
            <a:r>
              <a:rPr lang="en-US" sz="1800" dirty="0">
                <a:solidFill>
                  <a:schemeClr val="tx1"/>
                </a:solidFill>
              </a:rPr>
              <a:t>These stormwater pipes are often monitored </a:t>
            </a:r>
            <a:r>
              <a:rPr lang="en-US" sz="1800" dirty="0"/>
              <a:t>to understand the status of the stormwater system, so that the local authority can plan maintenance and future facility development</a:t>
            </a:r>
            <a:r>
              <a:rPr lang="en-US" sz="1800" dirty="0">
                <a:solidFill>
                  <a:schemeClr val="tx1"/>
                </a:solidFill>
              </a:rPr>
              <a:t>. Currently, these pipes are inspected on-site. A certified technician guides a robot with a camera mounted and visually looks for defects. Once a defect is found, the technician rotates and zooms in the camera manually to get a better understanding of the defect. This process is time-consuming and expensive.</a:t>
            </a:r>
            <a:endParaRPr lang="en-SG" sz="1800" dirty="0">
              <a:solidFill>
                <a:schemeClr val="tx1"/>
              </a:solidFill>
            </a:endParaRPr>
          </a:p>
          <a:p>
            <a:pPr marL="0" indent="0">
              <a:buNone/>
            </a:pPr>
            <a:r>
              <a:rPr lang="en-US" sz="1800" dirty="0">
                <a:solidFill>
                  <a:schemeClr val="tx1"/>
                </a:solidFill>
              </a:rPr>
              <a:t>The local authority decided this process should be automated. They came to the start-up you are working in and sought a solution. They are looking at a system to identify five types of common defects in a pipe automatically. </a:t>
            </a:r>
            <a:endParaRPr lang="en-SG" sz="1800" dirty="0">
              <a:solidFill>
                <a:schemeClr val="tx1"/>
              </a:solidFill>
            </a:endParaRPr>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3</a:t>
            </a:fld>
            <a:endParaRPr lang="en-SG" dirty="0"/>
          </a:p>
        </p:txBody>
      </p:sp>
    </p:spTree>
    <p:extLst>
      <p:ext uri="{BB962C8B-B14F-4D97-AF65-F5344CB8AC3E}">
        <p14:creationId xmlns:p14="http://schemas.microsoft.com/office/powerpoint/2010/main" val="349131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endParaRPr lang="en-SG" dirty="0"/>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4</a:t>
            </a:fld>
            <a:endParaRPr lang="en-SG" dirty="0"/>
          </a:p>
        </p:txBody>
      </p:sp>
      <p:sp>
        <p:nvSpPr>
          <p:cNvPr id="5" name="Rectangle 4"/>
          <p:cNvSpPr/>
          <p:nvPr/>
        </p:nvSpPr>
        <p:spPr>
          <a:xfrm>
            <a:off x="181153" y="1009182"/>
            <a:ext cx="8729933" cy="2862322"/>
          </a:xfrm>
          <a:prstGeom prst="rect">
            <a:avLst/>
          </a:prstGeom>
        </p:spPr>
        <p:txBody>
          <a:bodyPr wrap="square">
            <a:spAutoFit/>
          </a:bodyPr>
          <a:lstStyle/>
          <a:p>
            <a:pPr marR="18415" lvl="0" algn="just">
              <a:spcBef>
                <a:spcPts val="0"/>
              </a:spcBef>
              <a:spcAft>
                <a:spcPts val="0"/>
              </a:spcAft>
              <a:tabLst>
                <a:tab pos="457200" algn="l"/>
              </a:tabLst>
            </a:pPr>
            <a:r>
              <a:rPr lang="en-US" dirty="0">
                <a:ea typeface="SimSun" panose="02010600030101010101" pitchFamily="2" charset="-122"/>
                <a:cs typeface="Times New Roman" panose="02020603050405020304" pitchFamily="18" charset="0"/>
              </a:rPr>
              <a:t>To further enhance the automated robot vision-based inspection solution, your company has decided to deploy a set of IoT sensors to provide continuous pipe monitoring, such as a water flow sensor. Table 1 provides an example of a water flow sensor dataset. These sensor data are updated at an interval of one hour. You are asked to predict the risk of choked drainage using the water flow sensor data. The change in the water flow sensor reading over time might give you some insight. For example, if the pipe is choked, the water flow speed might suddenly decrease to a smaller value. </a:t>
            </a:r>
            <a:r>
              <a:rPr lang="en-US" b="1" dirty="0">
                <a:solidFill>
                  <a:srgbClr val="000000"/>
                </a:solidFill>
                <a:ea typeface="SimSun" panose="02010600030101010101" pitchFamily="2" charset="-122"/>
                <a:cs typeface="Times New Roman" panose="02020603050405020304" pitchFamily="18" charset="0"/>
              </a:rPr>
              <a:t>Evaluate whether the Haar wavelet transformation can indicate the pipe choke (i.e., a significant change in the water flow using sensor readings over time) from the water level data provided in Table 1</a:t>
            </a:r>
            <a:r>
              <a:rPr lang="en-US" dirty="0">
                <a:solidFill>
                  <a:srgbClr val="000000"/>
                </a:solidFill>
                <a:ea typeface="SimSun" panose="02010600030101010101" pitchFamily="2" charset="-122"/>
                <a:cs typeface="Times New Roman" panose="02020603050405020304" pitchFamily="18" charset="0"/>
              </a:rPr>
              <a:t>.</a:t>
            </a:r>
            <a:endParaRPr lang="en-SG" dirty="0">
              <a:solidFill>
                <a:srgbClr val="000000"/>
              </a:solidFill>
              <a:ea typeface="SimSun" panose="02010600030101010101" pitchFamily="2" charset="-122"/>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769331160"/>
              </p:ext>
            </p:extLst>
          </p:nvPr>
        </p:nvGraphicFramePr>
        <p:xfrm>
          <a:off x="181153" y="4497727"/>
          <a:ext cx="8729930" cy="1645920"/>
        </p:xfrm>
        <a:graphic>
          <a:graphicData uri="http://schemas.openxmlformats.org/drawingml/2006/table">
            <a:tbl>
              <a:tblPr firstRow="1" firstCol="1" bandRow="1">
                <a:tableStyleId>{5940675A-B579-460E-94D1-54222C63F5DA}</a:tableStyleId>
              </a:tblPr>
              <a:tblGrid>
                <a:gridCol w="2005194">
                  <a:extLst>
                    <a:ext uri="{9D8B030D-6E8A-4147-A177-3AD203B41FA5}">
                      <a16:colId xmlns:a16="http://schemas.microsoft.com/office/drawing/2014/main" val="870362776"/>
                    </a:ext>
                  </a:extLst>
                </a:gridCol>
                <a:gridCol w="840155">
                  <a:extLst>
                    <a:ext uri="{9D8B030D-6E8A-4147-A177-3AD203B41FA5}">
                      <a16:colId xmlns:a16="http://schemas.microsoft.com/office/drawing/2014/main" val="423158647"/>
                    </a:ext>
                  </a:extLst>
                </a:gridCol>
                <a:gridCol w="840155">
                  <a:extLst>
                    <a:ext uri="{9D8B030D-6E8A-4147-A177-3AD203B41FA5}">
                      <a16:colId xmlns:a16="http://schemas.microsoft.com/office/drawing/2014/main" val="1618108968"/>
                    </a:ext>
                  </a:extLst>
                </a:gridCol>
                <a:gridCol w="840155">
                  <a:extLst>
                    <a:ext uri="{9D8B030D-6E8A-4147-A177-3AD203B41FA5}">
                      <a16:colId xmlns:a16="http://schemas.microsoft.com/office/drawing/2014/main" val="2236720028"/>
                    </a:ext>
                  </a:extLst>
                </a:gridCol>
                <a:gridCol w="840155">
                  <a:extLst>
                    <a:ext uri="{9D8B030D-6E8A-4147-A177-3AD203B41FA5}">
                      <a16:colId xmlns:a16="http://schemas.microsoft.com/office/drawing/2014/main" val="1329103458"/>
                    </a:ext>
                  </a:extLst>
                </a:gridCol>
                <a:gridCol w="840155">
                  <a:extLst>
                    <a:ext uri="{9D8B030D-6E8A-4147-A177-3AD203B41FA5}">
                      <a16:colId xmlns:a16="http://schemas.microsoft.com/office/drawing/2014/main" val="4027049102"/>
                    </a:ext>
                  </a:extLst>
                </a:gridCol>
                <a:gridCol w="840155">
                  <a:extLst>
                    <a:ext uri="{9D8B030D-6E8A-4147-A177-3AD203B41FA5}">
                      <a16:colId xmlns:a16="http://schemas.microsoft.com/office/drawing/2014/main" val="1443836643"/>
                    </a:ext>
                  </a:extLst>
                </a:gridCol>
                <a:gridCol w="841903">
                  <a:extLst>
                    <a:ext uri="{9D8B030D-6E8A-4147-A177-3AD203B41FA5}">
                      <a16:colId xmlns:a16="http://schemas.microsoft.com/office/drawing/2014/main" val="3249801360"/>
                    </a:ext>
                  </a:extLst>
                </a:gridCol>
                <a:gridCol w="841903">
                  <a:extLst>
                    <a:ext uri="{9D8B030D-6E8A-4147-A177-3AD203B41FA5}">
                      <a16:colId xmlns:a16="http://schemas.microsoft.com/office/drawing/2014/main" val="3235730867"/>
                    </a:ext>
                  </a:extLst>
                </a:gridCol>
              </a:tblGrid>
              <a:tr h="183515">
                <a:tc gridSpan="9">
                  <a:txBody>
                    <a:bodyPr/>
                    <a:lstStyle/>
                    <a:p>
                      <a:pPr marL="0" marR="18415" algn="just">
                        <a:spcBef>
                          <a:spcPts val="0"/>
                        </a:spcBef>
                        <a:spcAft>
                          <a:spcPts val="0"/>
                        </a:spcAft>
                        <a:tabLst>
                          <a:tab pos="4286250" algn="l"/>
                          <a:tab pos="4572000" algn="l"/>
                        </a:tabLst>
                      </a:pPr>
                      <a:r>
                        <a:rPr lang="en-US" sz="1800" dirty="0">
                          <a:solidFill>
                            <a:schemeClr val="tx1"/>
                          </a:solidFill>
                          <a:effectLst/>
                          <a:latin typeface="+mn-lt"/>
                          <a:ea typeface="SimSun" panose="02010600030101010101" pitchFamily="2" charset="-122"/>
                          <a:cs typeface="Times New Roman" panose="02020603050405020304" pitchFamily="18" charset="0"/>
                        </a:rPr>
                        <a:t>Table 1. An example of a water flow sensor dataset used for pipe monitoring. These sensor data are updated at an interval of one hour.</a:t>
                      </a:r>
                      <a:endParaRPr lang="en-SG" sz="1800" dirty="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dirty="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dirty="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67277772"/>
                  </a:ext>
                </a:extLst>
              </a:tr>
              <a:tr h="183515">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Signal index</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dirty="0">
                          <a:solidFill>
                            <a:schemeClr val="tx1"/>
                          </a:solidFill>
                          <a:effectLst/>
                          <a:latin typeface="+mn-lt"/>
                        </a:rPr>
                        <a:t>1</a:t>
                      </a:r>
                      <a:endParaRPr lang="en-SG" sz="1800" dirty="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2</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3</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4</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5</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6</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7</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dirty="0">
                          <a:solidFill>
                            <a:schemeClr val="tx1"/>
                          </a:solidFill>
                          <a:effectLst/>
                          <a:latin typeface="+mn-lt"/>
                        </a:rPr>
                        <a:t>8</a:t>
                      </a:r>
                      <a:endParaRPr lang="en-SG" sz="1800" dirty="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16766495"/>
                  </a:ext>
                </a:extLst>
              </a:tr>
              <a:tr h="561340">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Water flow sensor reading (meter/second)</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0.6</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0.7</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0.8</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0.4</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0.3</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0.3</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0.6</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dirty="0">
                          <a:solidFill>
                            <a:schemeClr val="tx1"/>
                          </a:solidFill>
                          <a:effectLst/>
                          <a:latin typeface="+mn-lt"/>
                        </a:rPr>
                        <a:t>0.6</a:t>
                      </a:r>
                      <a:endParaRPr lang="en-SG" sz="1800" dirty="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77137291"/>
                  </a:ext>
                </a:extLst>
              </a:tr>
            </a:tbl>
          </a:graphicData>
        </a:graphic>
      </p:graphicFrame>
    </p:spTree>
    <p:extLst>
      <p:ext uri="{BB962C8B-B14F-4D97-AF65-F5344CB8AC3E}">
        <p14:creationId xmlns:p14="http://schemas.microsoft.com/office/powerpoint/2010/main" val="4183104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Your answers</a:t>
            </a:r>
            <a:endParaRPr lang="en-SG" dirty="0"/>
          </a:p>
        </p:txBody>
      </p:sp>
      <p:sp>
        <p:nvSpPr>
          <p:cNvPr id="2" name="Slide Number Placeholder 1"/>
          <p:cNvSpPr>
            <a:spLocks noGrp="1"/>
          </p:cNvSpPr>
          <p:nvPr>
            <p:ph type="sldNum" sz="quarter" idx="4"/>
          </p:nvPr>
        </p:nvSpPr>
        <p:spPr/>
        <p:txBody>
          <a:bodyPr/>
          <a:lstStyle/>
          <a:p>
            <a:pPr algn="ctr"/>
            <a:r>
              <a:rPr lang="en-SG"/>
              <a:t>Page </a:t>
            </a:r>
            <a:fld id="{2F63C605-4FC6-46DE-BC90-871762EA3F52}" type="slidenum">
              <a:rPr lang="en-SG" smtClean="0"/>
              <a:pPr algn="ctr"/>
              <a:t>5</a:t>
            </a:fld>
            <a:endParaRPr lang="en-SG" dirty="0"/>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22A52A90-FF43-E942-E631-45943E4FB12D}"/>
                  </a:ext>
                </a:extLst>
              </p:cNvPr>
              <p:cNvSpPr txBox="1"/>
              <p:nvPr/>
            </p:nvSpPr>
            <p:spPr>
              <a:xfrm>
                <a:off x="138895" y="959920"/>
                <a:ext cx="5457464" cy="1065869"/>
              </a:xfrm>
              <a:prstGeom prst="rect">
                <a:avLst/>
              </a:prstGeom>
              <a:noFill/>
            </p:spPr>
            <p:txBody>
              <a:bodyPr wrap="square">
                <a:spAutoFit/>
              </a:bodyPr>
              <a:lstStyle/>
              <a:p>
                <a:r>
                  <a:rPr lang="zh-CN" altLang="zh-CN" dirty="0"/>
                  <a:t>Haar Wavelet Calculation (Level 1)</a:t>
                </a:r>
                <a:endParaRPr lang="en-US" altLang="zh-CN" dirty="0"/>
              </a:p>
              <a:p>
                <a:r>
                  <a:rPr lang="zh-CN" altLang="zh-CN" dirty="0"/>
                  <a:t>Input: </a:t>
                </a:r>
                <a14:m>
                  <m:oMath xmlns:m="http://schemas.openxmlformats.org/officeDocument/2006/math">
                    <m:r>
                      <a:rPr lang="zh-CN" altLang="en-US" i="1">
                        <a:latin typeface="Cambria Math" panose="02040503050406030204" pitchFamily="18" charset="0"/>
                      </a:rPr>
                      <m:t>𝑋</m:t>
                    </m:r>
                    <m:r>
                      <a:rPr lang="zh-CN" altLang="en-US">
                        <a:latin typeface="Cambria Math" panose="02040503050406030204" pitchFamily="18" charset="0"/>
                      </a:rPr>
                      <m:t>=</m:t>
                    </m:r>
                    <m:d>
                      <m:dPr>
                        <m:begChr m:val="["/>
                        <m:endChr m:val="]"/>
                        <m:ctrlPr>
                          <a:rPr lang="zh-CN" altLang="en-US">
                            <a:latin typeface="Cambria Math" panose="02040503050406030204" pitchFamily="18" charset="0"/>
                          </a:rPr>
                        </m:ctrlPr>
                      </m:dPr>
                      <m:e>
                        <m:r>
                          <a:rPr lang="zh-CN" altLang="en-US">
                            <a:latin typeface="Cambria Math" panose="02040503050406030204" pitchFamily="18" charset="0"/>
                          </a:rPr>
                          <m:t>0.6,0.7,0.8,0.4,0.3,0.3,0.6,0.6</m:t>
                        </m:r>
                      </m:e>
                    </m:d>
                  </m:oMath>
                </a14:m>
                <a:endParaRPr lang="en-US" altLang="zh-CN" dirty="0"/>
              </a:p>
              <a:p>
                <a:r>
                  <a:rPr lang="zh-CN" altLang="zh-CN" dirty="0"/>
                  <a:t>Formula: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𝑖</m:t>
                        </m:r>
                      </m:sub>
                    </m:sSub>
                    <m:r>
                      <a:rPr lang="zh-CN" altLang="en-US">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a:latin typeface="Cambria Math" panose="02040503050406030204" pitchFamily="18" charset="0"/>
                              </a:rPr>
                              <m:t>2</m:t>
                            </m:r>
                            <m:r>
                              <a:rPr lang="zh-CN" altLang="en-US" i="1">
                                <a:latin typeface="Cambria Math" panose="02040503050406030204" pitchFamily="18" charset="0"/>
                              </a:rPr>
                              <m:t>𝑖</m:t>
                            </m:r>
                            <m:r>
                              <a:rPr lang="zh-CN" altLang="en-US">
                                <a:latin typeface="Cambria Math" panose="02040503050406030204" pitchFamily="18" charset="0"/>
                              </a:rPr>
                              <m:t>−1</m:t>
                            </m:r>
                          </m:sub>
                        </m:sSub>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a:latin typeface="Cambria Math" panose="02040503050406030204" pitchFamily="18" charset="0"/>
                              </a:rPr>
                              <m:t>2</m:t>
                            </m:r>
                            <m:r>
                              <a:rPr lang="zh-CN" altLang="en-US" i="1">
                                <a:latin typeface="Cambria Math" panose="02040503050406030204" pitchFamily="18" charset="0"/>
                              </a:rPr>
                              <m:t>𝑖</m:t>
                            </m:r>
                          </m:sub>
                        </m:sSub>
                      </m:num>
                      <m:den>
                        <m:r>
                          <a:rPr lang="zh-CN" altLang="en-US" i="1">
                            <a:latin typeface="Cambria Math" panose="02040503050406030204" pitchFamily="18" charset="0"/>
                          </a:rPr>
                          <m:t>√</m:t>
                        </m:r>
                        <m:r>
                          <a:rPr lang="zh-CN" altLang="en-US">
                            <a:latin typeface="Cambria Math" panose="02040503050406030204" pitchFamily="18" charset="0"/>
                          </a:rPr>
                          <m:t>2</m:t>
                        </m:r>
                      </m:den>
                    </m:f>
                  </m:oMath>
                </a14:m>
                <a:r>
                  <a:rPr lang="zh-CN" altLang="zh-CN"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𝑖</m:t>
                        </m:r>
                      </m:sub>
                    </m:sSub>
                    <m:r>
                      <a:rPr lang="zh-CN" altLang="en-US">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a:latin typeface="Cambria Math" panose="02040503050406030204" pitchFamily="18" charset="0"/>
                              </a:rPr>
                              <m:t>2</m:t>
                            </m:r>
                            <m:r>
                              <a:rPr lang="zh-CN" altLang="en-US" i="1">
                                <a:latin typeface="Cambria Math" panose="02040503050406030204" pitchFamily="18" charset="0"/>
                              </a:rPr>
                              <m:t>𝑖</m:t>
                            </m:r>
                            <m:r>
                              <a:rPr lang="zh-CN" altLang="en-US">
                                <a:latin typeface="Cambria Math" panose="02040503050406030204" pitchFamily="18" charset="0"/>
                              </a:rPr>
                              <m:t>−1</m:t>
                            </m:r>
                          </m:sub>
                        </m:sSub>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a:latin typeface="Cambria Math" panose="02040503050406030204" pitchFamily="18" charset="0"/>
                              </a:rPr>
                              <m:t>2</m:t>
                            </m:r>
                            <m:r>
                              <a:rPr lang="zh-CN" altLang="en-US" i="1">
                                <a:latin typeface="Cambria Math" panose="02040503050406030204" pitchFamily="18" charset="0"/>
                              </a:rPr>
                              <m:t>𝑖</m:t>
                            </m:r>
                          </m:sub>
                        </m:sSub>
                      </m:num>
                      <m:den>
                        <m:r>
                          <a:rPr lang="zh-CN" altLang="en-US" i="1">
                            <a:latin typeface="Cambria Math" panose="02040503050406030204" pitchFamily="18" charset="0"/>
                          </a:rPr>
                          <m:t>√</m:t>
                        </m:r>
                        <m:r>
                          <a:rPr lang="zh-CN" altLang="en-US">
                            <a:latin typeface="Cambria Math" panose="02040503050406030204" pitchFamily="18" charset="0"/>
                          </a:rPr>
                          <m:t>2</m:t>
                        </m:r>
                      </m:den>
                    </m:f>
                  </m:oMath>
                </a14:m>
                <a:endParaRPr lang="en-US" altLang="zh-CN" dirty="0"/>
              </a:p>
            </p:txBody>
          </p:sp>
        </mc:Choice>
        <mc:Fallback>
          <p:sp>
            <p:nvSpPr>
              <p:cNvPr id="4" name="文本框 3">
                <a:extLst>
                  <a:ext uri="{FF2B5EF4-FFF2-40B4-BE49-F238E27FC236}">
                    <a16:creationId xmlns:a16="http://schemas.microsoft.com/office/drawing/2014/main" id="{22A52A90-FF43-E942-E631-45943E4FB12D}"/>
                  </a:ext>
                </a:extLst>
              </p:cNvPr>
              <p:cNvSpPr txBox="1">
                <a:spLocks noRot="1" noChangeAspect="1" noMove="1" noResize="1" noEditPoints="1" noAdjustHandles="1" noChangeArrowheads="1" noChangeShapeType="1" noTextEdit="1"/>
              </p:cNvSpPr>
              <p:nvPr/>
            </p:nvSpPr>
            <p:spPr>
              <a:xfrm>
                <a:off x="138895" y="959920"/>
                <a:ext cx="5457464" cy="1065869"/>
              </a:xfrm>
              <a:prstGeom prst="rect">
                <a:avLst/>
              </a:prstGeom>
              <a:blipFill>
                <a:blip r:embed="rId2"/>
                <a:stretch>
                  <a:fillRect l="-1006" t="-2857"/>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6E9213DD-6FB7-299C-0488-A0E5E6E9D6B8}"/>
              </a:ext>
            </a:extLst>
          </p:cNvPr>
          <p:cNvGraphicFramePr>
            <a:graphicFrameLocks noGrp="1"/>
          </p:cNvGraphicFramePr>
          <p:nvPr>
            <p:extLst>
              <p:ext uri="{D42A27DB-BD31-4B8C-83A1-F6EECF244321}">
                <p14:modId xmlns:p14="http://schemas.microsoft.com/office/powerpoint/2010/main" val="1678009990"/>
              </p:ext>
            </p:extLst>
          </p:nvPr>
        </p:nvGraphicFramePr>
        <p:xfrm>
          <a:off x="216061" y="1992447"/>
          <a:ext cx="8655936" cy="1854200"/>
        </p:xfrm>
        <a:graphic>
          <a:graphicData uri="http://schemas.openxmlformats.org/drawingml/2006/table">
            <a:tbl>
              <a:tblPr firstRow="1" bandRow="1">
                <a:tableStyleId>{5C22544A-7EE6-4342-B048-85BDC9FD1C3A}</a:tableStyleId>
              </a:tblPr>
              <a:tblGrid>
                <a:gridCol w="1022430">
                  <a:extLst>
                    <a:ext uri="{9D8B030D-6E8A-4147-A177-3AD203B41FA5}">
                      <a16:colId xmlns:a16="http://schemas.microsoft.com/office/drawing/2014/main" val="1758437985"/>
                    </a:ext>
                  </a:extLst>
                </a:gridCol>
                <a:gridCol w="1169043">
                  <a:extLst>
                    <a:ext uri="{9D8B030D-6E8A-4147-A177-3AD203B41FA5}">
                      <a16:colId xmlns:a16="http://schemas.microsoft.com/office/drawing/2014/main" val="1128546170"/>
                    </a:ext>
                  </a:extLst>
                </a:gridCol>
                <a:gridCol w="1556795">
                  <a:extLst>
                    <a:ext uri="{9D8B030D-6E8A-4147-A177-3AD203B41FA5}">
                      <a16:colId xmlns:a16="http://schemas.microsoft.com/office/drawing/2014/main" val="1805543188"/>
                    </a:ext>
                  </a:extLst>
                </a:gridCol>
                <a:gridCol w="4907668">
                  <a:extLst>
                    <a:ext uri="{9D8B030D-6E8A-4147-A177-3AD203B41FA5}">
                      <a16:colId xmlns:a16="http://schemas.microsoft.com/office/drawing/2014/main" val="939529957"/>
                    </a:ext>
                  </a:extLst>
                </a:gridCol>
              </a:tblGrid>
              <a:tr h="370840">
                <a:tc>
                  <a:txBody>
                    <a:bodyPr/>
                    <a:lstStyle/>
                    <a:p>
                      <a:r>
                        <a:rPr lang="en-US" altLang="zh-CN" dirty="0"/>
                        <a:t>Interval</a:t>
                      </a:r>
                      <a:endParaRPr lang="zh-CN" altLang="en-US" dirty="0"/>
                    </a:p>
                  </a:txBody>
                  <a:tcPr/>
                </a:tc>
                <a:tc>
                  <a:txBody>
                    <a:bodyPr/>
                    <a:lstStyle/>
                    <a:p>
                      <a:r>
                        <a:rPr lang="en-US" altLang="zh-CN" dirty="0"/>
                        <a:t>Approx</a:t>
                      </a:r>
                      <a:endParaRPr lang="zh-CN" altLang="en-US" dirty="0"/>
                    </a:p>
                  </a:txBody>
                  <a:tcPr/>
                </a:tc>
                <a:tc>
                  <a:txBody>
                    <a:bodyPr/>
                    <a:lstStyle/>
                    <a:p>
                      <a:r>
                        <a:rPr lang="en-US" altLang="zh-CN" dirty="0"/>
                        <a:t>Detail</a:t>
                      </a:r>
                      <a:endParaRPr lang="zh-CN" altLang="en-US" dirty="0"/>
                    </a:p>
                  </a:txBody>
                  <a:tcPr/>
                </a:tc>
                <a:tc>
                  <a:txBody>
                    <a:bodyPr/>
                    <a:lstStyle/>
                    <a:p>
                      <a:r>
                        <a:rPr lang="en-US" altLang="zh-CN" dirty="0"/>
                        <a:t>Status</a:t>
                      </a:r>
                      <a:endParaRPr lang="zh-CN" altLang="en-US" dirty="0"/>
                    </a:p>
                  </a:txBody>
                  <a:tcPr/>
                </a:tc>
                <a:extLst>
                  <a:ext uri="{0D108BD9-81ED-4DB2-BD59-A6C34878D82A}">
                    <a16:rowId xmlns:a16="http://schemas.microsoft.com/office/drawing/2014/main" val="2648750153"/>
                  </a:ext>
                </a:extLst>
              </a:tr>
              <a:tr h="370840">
                <a:tc>
                  <a:txBody>
                    <a:bodyPr/>
                    <a:lstStyle/>
                    <a:p>
                      <a:r>
                        <a:rPr lang="en-US" altLang="zh-CN" dirty="0"/>
                        <a:t>1-2</a:t>
                      </a:r>
                      <a:endParaRPr lang="zh-CN" altLang="en-US" dirty="0"/>
                    </a:p>
                  </a:txBody>
                  <a:tcPr/>
                </a:tc>
                <a:tc>
                  <a:txBody>
                    <a:bodyPr/>
                    <a:lstStyle/>
                    <a:p>
                      <a:r>
                        <a:rPr lang="en-US" altLang="zh-CN" dirty="0"/>
                        <a:t>0.919</a:t>
                      </a:r>
                      <a:endParaRPr lang="zh-CN" altLang="en-US" dirty="0"/>
                    </a:p>
                  </a:txBody>
                  <a:tcPr/>
                </a:tc>
                <a:tc>
                  <a:txBody>
                    <a:bodyPr/>
                    <a:lstStyle/>
                    <a:p>
                      <a:r>
                        <a:rPr lang="en-US" altLang="zh-CN" dirty="0"/>
                        <a:t>-0.071</a:t>
                      </a:r>
                      <a:endParaRPr lang="zh-CN" altLang="en-US" dirty="0"/>
                    </a:p>
                  </a:txBody>
                  <a:tcPr/>
                </a:tc>
                <a:tc>
                  <a:txBody>
                    <a:bodyPr/>
                    <a:lstStyle/>
                    <a:p>
                      <a:r>
                        <a:rPr lang="en-US" altLang="zh-CN" dirty="0"/>
                        <a:t>Normal slight rise</a:t>
                      </a:r>
                      <a:endParaRPr lang="zh-CN" altLang="en-US" dirty="0"/>
                    </a:p>
                  </a:txBody>
                  <a:tcPr/>
                </a:tc>
                <a:extLst>
                  <a:ext uri="{0D108BD9-81ED-4DB2-BD59-A6C34878D82A}">
                    <a16:rowId xmlns:a16="http://schemas.microsoft.com/office/drawing/2014/main" val="2607316186"/>
                  </a:ext>
                </a:extLst>
              </a:tr>
              <a:tr h="370840">
                <a:tc>
                  <a:txBody>
                    <a:bodyPr/>
                    <a:lstStyle/>
                    <a:p>
                      <a:r>
                        <a:rPr lang="en-US" altLang="zh-CN" dirty="0"/>
                        <a:t>3-4</a:t>
                      </a:r>
                      <a:endParaRPr lang="zh-CN" altLang="en-US" dirty="0"/>
                    </a:p>
                  </a:txBody>
                  <a:tcPr/>
                </a:tc>
                <a:tc>
                  <a:txBody>
                    <a:bodyPr/>
                    <a:lstStyle/>
                    <a:p>
                      <a:r>
                        <a:rPr lang="en-US" altLang="zh-CN" dirty="0"/>
                        <a:t>0.849</a:t>
                      </a:r>
                      <a:endParaRPr lang="zh-CN" altLang="en-US" dirty="0"/>
                    </a:p>
                  </a:txBody>
                  <a:tcPr/>
                </a:tc>
                <a:tc>
                  <a:txBody>
                    <a:bodyPr/>
                    <a:lstStyle/>
                    <a:p>
                      <a:r>
                        <a:rPr lang="en-US" altLang="zh-CN" dirty="0"/>
                        <a:t>+0.283</a:t>
                      </a:r>
                      <a:endParaRPr lang="zh-CN" altLang="en-US" dirty="0"/>
                    </a:p>
                  </a:txBody>
                  <a:tcPr/>
                </a:tc>
                <a:tc>
                  <a:txBody>
                    <a:bodyPr/>
                    <a:lstStyle/>
                    <a:p>
                      <a:r>
                        <a:rPr lang="en-US" altLang="zh-CN" dirty="0"/>
                        <a:t>Sharp drop</a:t>
                      </a:r>
                      <a:endParaRPr lang="zh-CN" altLang="en-US" dirty="0"/>
                    </a:p>
                  </a:txBody>
                  <a:tcPr/>
                </a:tc>
                <a:extLst>
                  <a:ext uri="{0D108BD9-81ED-4DB2-BD59-A6C34878D82A}">
                    <a16:rowId xmlns:a16="http://schemas.microsoft.com/office/drawing/2014/main" val="1346614925"/>
                  </a:ext>
                </a:extLst>
              </a:tr>
              <a:tr h="370840">
                <a:tc>
                  <a:txBody>
                    <a:bodyPr/>
                    <a:lstStyle/>
                    <a:p>
                      <a:r>
                        <a:rPr lang="en-US" altLang="zh-CN" dirty="0"/>
                        <a:t>5-6</a:t>
                      </a:r>
                      <a:endParaRPr lang="zh-CN" altLang="en-US" dirty="0"/>
                    </a:p>
                  </a:txBody>
                  <a:tcPr/>
                </a:tc>
                <a:tc>
                  <a:txBody>
                    <a:bodyPr/>
                    <a:lstStyle/>
                    <a:p>
                      <a:r>
                        <a:rPr lang="en-US" altLang="zh-CN" dirty="0"/>
                        <a:t>0.424</a:t>
                      </a:r>
                      <a:endParaRPr lang="zh-CN" altLang="en-US" dirty="0"/>
                    </a:p>
                  </a:txBody>
                  <a:tcPr/>
                </a:tc>
                <a:tc>
                  <a:txBody>
                    <a:bodyPr/>
                    <a:lstStyle/>
                    <a:p>
                      <a:r>
                        <a:rPr lang="en-US" altLang="zh-CN" dirty="0"/>
                        <a:t>0.000</a:t>
                      </a:r>
                      <a:endParaRPr lang="zh-CN" altLang="en-US" dirty="0"/>
                    </a:p>
                  </a:txBody>
                  <a:tcPr/>
                </a:tc>
                <a:tc>
                  <a:txBody>
                    <a:bodyPr/>
                    <a:lstStyle/>
                    <a:p>
                      <a:r>
                        <a:rPr lang="en-US" altLang="zh-CN" dirty="0"/>
                        <a:t>Low flow</a:t>
                      </a:r>
                      <a:endParaRPr lang="zh-CN" altLang="en-US" dirty="0"/>
                    </a:p>
                  </a:txBody>
                  <a:tcPr/>
                </a:tc>
                <a:extLst>
                  <a:ext uri="{0D108BD9-81ED-4DB2-BD59-A6C34878D82A}">
                    <a16:rowId xmlns:a16="http://schemas.microsoft.com/office/drawing/2014/main" val="316049785"/>
                  </a:ext>
                </a:extLst>
              </a:tr>
              <a:tr h="370840">
                <a:tc>
                  <a:txBody>
                    <a:bodyPr/>
                    <a:lstStyle/>
                    <a:p>
                      <a:r>
                        <a:rPr lang="en-US" altLang="zh-CN" dirty="0"/>
                        <a:t>7-8</a:t>
                      </a:r>
                      <a:endParaRPr lang="zh-CN" altLang="en-US" dirty="0"/>
                    </a:p>
                  </a:txBody>
                  <a:tcPr/>
                </a:tc>
                <a:tc>
                  <a:txBody>
                    <a:bodyPr/>
                    <a:lstStyle/>
                    <a:p>
                      <a:r>
                        <a:rPr lang="en-US" altLang="zh-CN" dirty="0"/>
                        <a:t>0.849</a:t>
                      </a:r>
                      <a:endParaRPr lang="zh-CN" altLang="en-US" dirty="0"/>
                    </a:p>
                  </a:txBody>
                  <a:tcPr/>
                </a:tc>
                <a:tc>
                  <a:txBody>
                    <a:bodyPr/>
                    <a:lstStyle/>
                    <a:p>
                      <a:r>
                        <a:rPr lang="en-US" altLang="zh-CN" dirty="0"/>
                        <a:t>0.000</a:t>
                      </a:r>
                      <a:endParaRPr lang="zh-CN" altLang="en-US" dirty="0"/>
                    </a:p>
                  </a:txBody>
                  <a:tcPr/>
                </a:tc>
                <a:tc>
                  <a:txBody>
                    <a:bodyPr/>
                    <a:lstStyle/>
                    <a:p>
                      <a:r>
                        <a:rPr lang="en-US" altLang="zh-CN" dirty="0"/>
                        <a:t>Flow restored</a:t>
                      </a:r>
                      <a:endParaRPr lang="zh-CN" altLang="en-US" dirty="0"/>
                    </a:p>
                  </a:txBody>
                  <a:tcPr/>
                </a:tc>
                <a:extLst>
                  <a:ext uri="{0D108BD9-81ED-4DB2-BD59-A6C34878D82A}">
                    <a16:rowId xmlns:a16="http://schemas.microsoft.com/office/drawing/2014/main" val="3591377022"/>
                  </a:ext>
                </a:extLst>
              </a:tr>
            </a:tbl>
          </a:graphicData>
        </a:graphic>
      </p:graphicFrame>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81DFD172-C337-BE95-0514-ABF78B67B078}"/>
                  </a:ext>
                </a:extLst>
              </p:cNvPr>
              <p:cNvSpPr txBox="1"/>
              <p:nvPr/>
            </p:nvSpPr>
            <p:spPr>
              <a:xfrm>
                <a:off x="216061" y="3897401"/>
                <a:ext cx="8655935" cy="2862322"/>
              </a:xfrm>
              <a:prstGeom prst="rect">
                <a:avLst/>
              </a:prstGeom>
              <a:noFill/>
            </p:spPr>
            <p:txBody>
              <a:bodyPr wrap="square">
                <a:spAutoFit/>
              </a:bodyPr>
              <a:lstStyle/>
              <a:p>
                <a:r>
                  <a:rPr lang="en-US" altLang="zh-CN" b="1" dirty="0"/>
                  <a:t>Findings:</a:t>
                </a:r>
              </a:p>
              <a:p>
                <a:r>
                  <a:rPr lang="zh-CN" altLang="zh-CN" dirty="0"/>
                  <a:t>High Sensitivity to Abrupt Changes:</a:t>
                </a:r>
                <a:r>
                  <a:rPr lang="en-US" altLang="zh-CN" dirty="0"/>
                  <a:t> </a:t>
                </a:r>
                <a:r>
                  <a:rPr lang="zh-CN" altLang="zh-CN" dirty="0"/>
                  <a:t>The detail coefficient peaks sharply at interval </a:t>
                </a:r>
                <a14:m>
                  <m:oMath xmlns:m="http://schemas.openxmlformats.org/officeDocument/2006/math">
                    <m:d>
                      <m:dPr>
                        <m:begChr m:val="["/>
                        <m:endChr m:val="]"/>
                        <m:ctrlPr>
                          <a:rPr lang="zh-CN" altLang="en-US">
                            <a:latin typeface="Cambria Math" panose="02040503050406030204" pitchFamily="18" charset="0"/>
                          </a:rPr>
                        </m:ctrlPr>
                      </m:dPr>
                      <m:e>
                        <m:r>
                          <a:rPr lang="zh-CN" altLang="en-US">
                            <a:latin typeface="Cambria Math" panose="02040503050406030204" pitchFamily="18" charset="0"/>
                          </a:rPr>
                          <m:t>3,4</m:t>
                        </m:r>
                      </m:e>
                    </m:d>
                  </m:oMath>
                </a14:m>
                <a:r>
                  <a:rPr lang="zh-CN" altLang="zh-CN" dirty="0"/>
                  <a:t>(</a:t>
                </a:r>
                <a14:m>
                  <m:oMath xmlns:m="http://schemas.openxmlformats.org/officeDocument/2006/math">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a:latin typeface="Cambria Math" panose="02040503050406030204" pitchFamily="18" charset="0"/>
                          </a:rPr>
                          <m:t>2</m:t>
                        </m:r>
                      </m:sub>
                    </m:sSub>
                    <m:r>
                      <a:rPr lang="zh-CN" altLang="en-US">
                        <a:latin typeface="Cambria Math" panose="02040503050406030204" pitchFamily="18" charset="0"/>
                      </a:rPr>
                      <m:t>|=0.20</m:t>
                    </m:r>
                  </m:oMath>
                </a14:m>
                <a:r>
                  <a:rPr lang="zh-CN" altLang="zh-CN" dirty="0"/>
                  <a:t> vs. </a:t>
                </a:r>
                <a14:m>
                  <m:oMath xmlns:m="http://schemas.openxmlformats.org/officeDocument/2006/math">
                    <m:r>
                      <a:rPr lang="zh-CN" altLang="en-US">
                        <a:latin typeface="Cambria Math" panose="02040503050406030204" pitchFamily="18" charset="0"/>
                      </a:rPr>
                      <m:t>−0.05</m:t>
                    </m:r>
                  </m:oMath>
                </a14:m>
                <a:r>
                  <a:rPr lang="zh-CN" altLang="zh-CN" dirty="0"/>
                  <a:t>and </a:t>
                </a:r>
                <a14:m>
                  <m:oMath xmlns:m="http://schemas.openxmlformats.org/officeDocument/2006/math">
                    <m:r>
                      <a:rPr lang="zh-CN" altLang="en-US">
                        <a:latin typeface="Cambria Math" panose="02040503050406030204" pitchFamily="18" charset="0"/>
                      </a:rPr>
                      <m:t>0</m:t>
                    </m:r>
                  </m:oMath>
                </a14:m>
                <a:r>
                  <a:rPr lang="zh-CN" altLang="zh-CN" dirty="0"/>
                  <a:t>), capturing the abrupt velocity collapse.</a:t>
                </a:r>
              </a:p>
              <a:p>
                <a:r>
                  <a:rPr lang="zh-CN" altLang="zh-CN" dirty="0"/>
                  <a:t>Precise Time Localization:</a:t>
                </a:r>
                <a:r>
                  <a:rPr lang="en-US" altLang="zh-CN" dirty="0"/>
                  <a:t> </a:t>
                </a:r>
                <a:r>
                  <a:rPr lang="zh-CN" altLang="zh-CN" dirty="0"/>
                  <a:t>Its compact support property pinpoints the exact time window (hours 3–4), providing an ideal trigger for real-time alerts and robotic dispatch.</a:t>
                </a:r>
                <a:endParaRPr lang="en-US" altLang="zh-CN" dirty="0"/>
              </a:p>
              <a:p>
                <a:r>
                  <a:rPr lang="en-US" altLang="zh-CN" b="1" dirty="0"/>
                  <a:t>Conclusion: </a:t>
                </a:r>
              </a:p>
              <a:p>
                <a:r>
                  <a:rPr lang="en-US" altLang="zh-CN" dirty="0">
                    <a:solidFill>
                      <a:srgbClr val="000000"/>
                    </a:solidFill>
                  </a:rPr>
                  <a:t>Haar wavelets can flag abrupt flow changes for further inspection. </a:t>
                </a:r>
                <a:r>
                  <a:rPr lang="zh-CN" altLang="zh-CN" dirty="0"/>
                  <a:t>The Haar wavelet transform detects sharp drops in water flow via prominent spikes in its detail coefficients, enabling precise anomaly localization.</a:t>
                </a:r>
                <a:endParaRPr lang="zh-CN" altLang="en-US" dirty="0"/>
              </a:p>
            </p:txBody>
          </p:sp>
        </mc:Choice>
        <mc:Fallback>
          <p:sp>
            <p:nvSpPr>
              <p:cNvPr id="8" name="文本框 7">
                <a:extLst>
                  <a:ext uri="{FF2B5EF4-FFF2-40B4-BE49-F238E27FC236}">
                    <a16:creationId xmlns:a16="http://schemas.microsoft.com/office/drawing/2014/main" id="{81DFD172-C337-BE95-0514-ABF78B67B078}"/>
                  </a:ext>
                </a:extLst>
              </p:cNvPr>
              <p:cNvSpPr txBox="1">
                <a:spLocks noRot="1" noChangeAspect="1" noMove="1" noResize="1" noEditPoints="1" noAdjustHandles="1" noChangeArrowheads="1" noChangeShapeType="1" noTextEdit="1"/>
              </p:cNvSpPr>
              <p:nvPr/>
            </p:nvSpPr>
            <p:spPr>
              <a:xfrm>
                <a:off x="216061" y="3897401"/>
                <a:ext cx="8655935" cy="2862322"/>
              </a:xfrm>
              <a:prstGeom prst="rect">
                <a:avLst/>
              </a:prstGeom>
              <a:blipFill>
                <a:blip r:embed="rId3"/>
                <a:stretch>
                  <a:fillRect l="-563" t="-1064" b="-23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086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AA2D47-3826-C90D-0D70-70D6E58547AB}"/>
              </a:ext>
            </a:extLst>
          </p:cNvPr>
          <p:cNvSpPr>
            <a:spLocks noGrp="1"/>
          </p:cNvSpPr>
          <p:nvPr>
            <p:ph type="title"/>
          </p:nvPr>
        </p:nvSpPr>
        <p:spPr/>
        <p:txBody>
          <a:bodyPr/>
          <a:lstStyle/>
          <a:p>
            <a:r>
              <a:rPr lang="en-US" dirty="0"/>
              <a:t>AI Tool Declaration</a:t>
            </a:r>
            <a:endParaRPr lang="en-SG" dirty="0"/>
          </a:p>
        </p:txBody>
      </p:sp>
      <p:graphicFrame>
        <p:nvGraphicFramePr>
          <p:cNvPr id="5" name="Table 4">
            <a:extLst>
              <a:ext uri="{FF2B5EF4-FFF2-40B4-BE49-F238E27FC236}">
                <a16:creationId xmlns:a16="http://schemas.microsoft.com/office/drawing/2014/main" id="{6BC3A709-CDB4-0254-531A-9D68A4B6FB54}"/>
              </a:ext>
            </a:extLst>
          </p:cNvPr>
          <p:cNvGraphicFramePr>
            <a:graphicFrameLocks noGrp="1"/>
          </p:cNvGraphicFramePr>
          <p:nvPr>
            <p:extLst>
              <p:ext uri="{D42A27DB-BD31-4B8C-83A1-F6EECF244321}">
                <p14:modId xmlns:p14="http://schemas.microsoft.com/office/powerpoint/2010/main" val="883341813"/>
              </p:ext>
            </p:extLst>
          </p:nvPr>
        </p:nvGraphicFramePr>
        <p:xfrm>
          <a:off x="342181" y="1164086"/>
          <a:ext cx="8318740" cy="4572000"/>
        </p:xfrm>
        <a:graphic>
          <a:graphicData uri="http://schemas.openxmlformats.org/drawingml/2006/table">
            <a:tbl>
              <a:tblPr firstRow="1" bandRow="1">
                <a:tableStyleId>{5C22544A-7EE6-4342-B048-85BDC9FD1C3A}</a:tableStyleId>
              </a:tblPr>
              <a:tblGrid>
                <a:gridCol w="8318740">
                  <a:extLst>
                    <a:ext uri="{9D8B030D-6E8A-4147-A177-3AD203B41FA5}">
                      <a16:colId xmlns:a16="http://schemas.microsoft.com/office/drawing/2014/main" val="2368900831"/>
                    </a:ext>
                  </a:extLst>
                </a:gridCol>
              </a:tblGrid>
              <a:tr h="370840">
                <a:tc>
                  <a:txBody>
                    <a:bodyPr/>
                    <a:lstStyle/>
                    <a:p>
                      <a:r>
                        <a:rPr lang="en-US" b="0" dirty="0">
                          <a:solidFill>
                            <a:schemeClr val="tx1"/>
                          </a:solidFill>
                        </a:rPr>
                        <a:t>[</a:t>
                      </a:r>
                      <a:r>
                        <a:rPr lang="en-US" b="0" i="1" dirty="0">
                          <a:solidFill>
                            <a:schemeClr val="tx1"/>
                          </a:solidFill>
                        </a:rPr>
                        <a:t>Sample declaration copied from Canvas</a:t>
                      </a:r>
                      <a:r>
                        <a:rPr lang="en-US" b="0" dirty="0">
                          <a:solidFill>
                            <a:schemeClr val="tx1"/>
                          </a:solidFill>
                        </a:rPr>
                        <a:t>]</a:t>
                      </a:r>
                    </a:p>
                    <a:p>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didn't use any AI tool.</a:t>
                      </a: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used [AI tool name, e.g., GPT-5.1] to [describe specific uses: e.g., generate ideas, format paragraphs, improve expression, </a:t>
                      </a:r>
                      <a:r>
                        <a:rPr lang="en-US" b="0" dirty="0" err="1">
                          <a:solidFill>
                            <a:schemeClr val="tx1"/>
                          </a:solidFill>
                        </a:rPr>
                        <a:t>analyse</a:t>
                      </a:r>
                      <a:r>
                        <a:rPr lang="en-US" b="0" dirty="0">
                          <a:solidFill>
                            <a:schemeClr val="tx1"/>
                          </a:solidFill>
                        </a:rPr>
                        <a:t> effectiveness, create images and illustrations, produce drafts, refine, and/or </a:t>
                      </a:r>
                      <a:r>
                        <a:rPr lang="en-US" b="0" dirty="0" err="1">
                          <a:solidFill>
                            <a:schemeClr val="tx1"/>
                          </a:solidFill>
                        </a:rPr>
                        <a:t>finalise</a:t>
                      </a:r>
                      <a:r>
                        <a:rPr lang="en-US" b="0" dirty="0">
                          <a:solidFill>
                            <a:schemeClr val="tx1"/>
                          </a:solidFill>
                        </a:rPr>
                        <a:t> my assignment]. The authors are responsible for the content and quality of the submitted work.</a:t>
                      </a:r>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7375410"/>
                  </a:ext>
                </a:extLst>
              </a:tr>
              <a:tr h="370840">
                <a:tc>
                  <a:txBody>
                    <a:bodyPr/>
                    <a:lstStyle/>
                    <a:p>
                      <a:r>
                        <a:rPr lang="zh-CN" altLang="zh-CN" dirty="0"/>
                        <a:t>The authors used Gemini to translate the English text and provide detailed explanations of the definitions and mathematical formulas of the Haar wavelet transform. The authors are responsible for the content and quality of the submitted work.</a:t>
                      </a:r>
                      <a:endParaRPr lang="en-SG" b="0" dirty="0">
                        <a:solidFill>
                          <a:schemeClr val="tx1"/>
                        </a:solidFill>
                      </a:endParaRPr>
                    </a:p>
                    <a:p>
                      <a:endParaRPr lang="en-SG" b="0" dirty="0">
                        <a:solidFill>
                          <a:schemeClr val="tx1"/>
                        </a:solidFill>
                      </a:endParaRPr>
                    </a:p>
                    <a:p>
                      <a:endParaRPr lang="en-SG" b="0" dirty="0">
                        <a:solidFill>
                          <a:schemeClr val="tx1"/>
                        </a:solidFill>
                      </a:endParaRPr>
                    </a:p>
                    <a:p>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71435"/>
                  </a:ext>
                </a:extLst>
              </a:tr>
            </a:tbl>
          </a:graphicData>
        </a:graphic>
      </p:graphicFrame>
      <p:sp>
        <p:nvSpPr>
          <p:cNvPr id="2" name="Slide Number Placeholder 1">
            <a:extLst>
              <a:ext uri="{FF2B5EF4-FFF2-40B4-BE49-F238E27FC236}">
                <a16:creationId xmlns:a16="http://schemas.microsoft.com/office/drawing/2014/main" id="{C73EBF33-7EC1-0415-FC13-8DA246378C33}"/>
              </a:ext>
            </a:extLst>
          </p:cNvPr>
          <p:cNvSpPr>
            <a:spLocks noGrp="1"/>
          </p:cNvSpPr>
          <p:nvPr>
            <p:ph type="sldNum" sz="quarter" idx="4"/>
          </p:nvPr>
        </p:nvSpPr>
        <p:spPr/>
        <p:txBody>
          <a:bodyPr/>
          <a:lstStyle/>
          <a:p>
            <a:pPr algn="ctr"/>
            <a:r>
              <a:rPr lang="en-SG"/>
              <a:t>Page </a:t>
            </a:r>
            <a:fld id="{2F63C605-4FC6-46DE-BC90-871762EA3F52}" type="slidenum">
              <a:rPr lang="en-SG" smtClean="0"/>
              <a:pPr algn="ctr"/>
              <a:t>6</a:t>
            </a:fld>
            <a:endParaRPr lang="en-SG" dirty="0"/>
          </a:p>
        </p:txBody>
      </p:sp>
    </p:spTree>
    <p:extLst>
      <p:ext uri="{BB962C8B-B14F-4D97-AF65-F5344CB8AC3E}">
        <p14:creationId xmlns:p14="http://schemas.microsoft.com/office/powerpoint/2010/main" val="37011712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UTOFOOTER" val="No"/>
</p:tagLst>
</file>

<file path=ppt/theme/theme1.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173F7E"/>
      </a:accent1>
      <a:accent2>
        <a:srgbClr val="F58220"/>
      </a:accent2>
      <a:accent3>
        <a:srgbClr val="404040"/>
      </a:accent3>
      <a:accent4>
        <a:srgbClr val="33BBBC"/>
      </a:accent4>
      <a:accent5>
        <a:srgbClr val="7F7F7F"/>
      </a:accent5>
      <a:accent6>
        <a:srgbClr val="FFFFFF"/>
      </a:accent6>
      <a:hlink>
        <a:srgbClr val="173F7E"/>
      </a:hlink>
      <a:folHlink>
        <a:srgbClr val="7F7F7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Theme1" id="{91B66467-7EFC-4B58-A0EB-3450E8B960CD}" vid="{B85C76FD-7EC2-4663-96A4-3E9E85EF7C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5574</TotalTime>
  <Words>1259</Words>
  <Application>Microsoft Office PowerPoint</Application>
  <PresentationFormat>全屏显示(4:3)</PresentationFormat>
  <Paragraphs>81</Paragraphs>
  <Slides>6</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SimSun</vt:lpstr>
      <vt:lpstr>Arial</vt:lpstr>
      <vt:lpstr>Calibri</vt:lpstr>
      <vt:lpstr>Cambria Math</vt:lpstr>
      <vt:lpstr>1_Theme1</vt:lpstr>
      <vt:lpstr>ISSM Day2 worksheet</vt:lpstr>
      <vt:lpstr>Team members</vt:lpstr>
      <vt:lpstr>Case study</vt:lpstr>
      <vt:lpstr>Question</vt:lpstr>
      <vt:lpstr>Your answers</vt:lpstr>
      <vt:lpstr>AI Tool Declaration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Xingkang</dc:creator>
  <cp:lastModifiedBy>Wang Mingyang</cp:lastModifiedBy>
  <cp:revision>1078</cp:revision>
  <cp:lastPrinted>2017-10-05T01:59:11Z</cp:lastPrinted>
  <dcterms:created xsi:type="dcterms:W3CDTF">2014-12-11T07:55:35Z</dcterms:created>
  <dcterms:modified xsi:type="dcterms:W3CDTF">2026-09-22T08:44:06Z</dcterms:modified>
</cp:coreProperties>
</file>